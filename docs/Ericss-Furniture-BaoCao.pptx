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và các bạn. Em là Nguyễn Đăng Phát. Em xin trình bày website Ericss Furniture, bài giữa kỳ môn Thiết kế Web. Website đã chạy thật trên GitHub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tài là website cho một xưởng nội thất ngoài trời. Tên thương hiệu là giả định, em không dùng thông tin của doanh nghiệp thật. Điểm khác với một landing thông thường là khách có thể ước giá và gửi báo giá theo MOQ.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có bốn trang tách riêng thay vì một trang dài. Ba trang sau dùng chung header, giỏ báo giá và chân trang.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chủ dùng bảng màu trắng, đen và nâu cognac để tạo cảm giác cao cấp, không đại trà. Các hiệu ứng đều tắt khi người dùng chọn giảm chuyển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sản phẩm có mã SKU và MOQ riêng của xưởng. Việc tìm kiếm không phân biệt dấu nên gõ "ghe" vẫn ra "ghế".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Chiết khấu số lượng có ba bậc: từ 5 sản phẩm giảm 3 phần trăm, từ 10 giảm 5, từ 20 giảm 8. Mã giảm giá được tính sau chiết khấu. Toàn bộ phép tính là hàm thuần nên dễ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Yêu cầu được lưu cục bộ trước rồi mới gửi. Bảng Google Sheet có cột tiếng Việt, hàng tiêu đề cố định và cột trạng thái để theo dõi xử lý. Phần chống spam nằm trong Apps Script vì link công khai, ai cũng gọi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ước giá dùng cùng hàm tính giá với biểu mẫu báo giá nên hai nơi luôn ra cùng một con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người dùng lưu trong localStorage. Em đã thay nút xuất JSON bằng xuất Excel để dễ dùng với người không rành kỹ thuật.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Chuỗi dịch nằm trong bảng dữ liệu, trang chỉ có tiếng Việt trong HTML và được thay bằng tiếng Anh khi bấm EN. Không có thanh cuộn ngang trên điện thoại.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bảng đối chiếu từng yêu cầu của đề với cách em áp dụng. Toàn bộ là HTML, CSS, JavaScript thuần, không dùng framework hay công cụ build, và mở thẳng file index.html cũng chạy.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tách khỏi mã: bảng JSON ở thư mục data, các hàm tính toán thuần ở các mô-đun, phần giao diện chỉ gọi lại chúng. Nhờ vậy dễ sửa giá và dễ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Mốc ngày lấy từ lịch sử commit trên GitHub. Mỗi vòng là một yêu cầu cụ thể, được commit, tự deploy rồi kiểm tra trên trang thật trước khi sang vòng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làm một mình nên phân công theo vai: em quyết định và kiểm tra, AI viết mã. Mọi quyết định đổi hướng đều do em đưa ra sau khi xem kết quả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lần trong PROMPT_LOG có bốn phần: prompt đã dùng, kết quả AI tạo ra, thách thức gặp phải và cách sửa prompt. Ở đây em chỉ tóm theo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dừng phần trình bày ở đây. Em sẵn sàng trả lời câu hỏi và chạy thử website trực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6B6258"/>
                </a:solidFill>
              </a:rPr>
              <a:t>Ericss Furniture  ·  Báo cáo giữa kỳ Thiết kế Web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25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A171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25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nguyenphat006.github.io/Phat_NguyenDang_526000162/" TargetMode="External"/><Relationship Id="rId2" Type="http://schemas.openxmlformats.org/officeDocument/2006/relationships/image" Target="../media/image-1-1.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github.com/nguyenphat006/Phat_NguyenDang_526000162" TargetMode="Externa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Nhãn"/>
          <p:cNvSpPr txBox="1"/>
          <p:nvPr/>
        </p:nvSpPr>
        <p:spPr>
          <a:xfrm>
            <a:off x="548640" y="640080"/>
            <a:ext cx="5486400" cy="365760"/>
          </a:xfrm>
          <a:prstGeom prst="rect">
            <a:avLst/>
          </a:prstGeom>
          <a:noFill/>
          <a:ln/>
        </p:spPr>
        <p:txBody>
          <a:bodyPr wrap="square" lIns="0" tIns="0" rIns="0" bIns="0" rtlCol="0" anchor="ctr"/>
          <a:lstStyle/>
          <a:p>
            <a:pPr indent="0" marL="0">
              <a:buNone/>
            </a:pPr>
            <a:r>
              <a:rPr lang="en-US" sz="1600" spc="300" kern="0" dirty="0">
                <a:solidFill>
                  <a:srgbClr val="D9C7AE"/>
                </a:solidFill>
                <a:latin typeface="Calibri" pitchFamily="34" charset="0"/>
                <a:ea typeface="Calibri" pitchFamily="34" charset="-122"/>
                <a:cs typeface="Calibri" pitchFamily="34" charset="-120"/>
              </a:rPr>
              <a:t>Báo cáo giữa kỳ · Thiết kế Web</a:t>
            </a:r>
            <a:endParaRPr lang="en-US" sz="1600" dirty="0"/>
          </a:p>
        </p:txBody>
      </p:sp>
      <p:sp>
        <p:nvSpPr>
          <p:cNvPr id="3" name="Tên dự án"/>
          <p:cNvSpPr txBox="1"/>
          <p:nvPr/>
        </p:nvSpPr>
        <p:spPr>
          <a:xfrm>
            <a:off x="548640" y="1371600"/>
            <a:ext cx="566928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Ericss Furniture</a:t>
            </a:r>
            <a:endParaRPr lang="en-US" sz="5400" dirty="0"/>
          </a:p>
        </p:txBody>
      </p:sp>
      <p:sp>
        <p:nvSpPr>
          <p:cNvPr id="4" name="Mô tả"/>
          <p:cNvSpPr txBox="1"/>
          <p:nvPr/>
        </p:nvSpPr>
        <p:spPr>
          <a:xfrm>
            <a:off x="548640" y="2468880"/>
            <a:ext cx="5303520" cy="1097280"/>
          </a:xfrm>
          <a:prstGeom prst="rect">
            <a:avLst/>
          </a:prstGeom>
          <a:noFill/>
          <a:ln/>
        </p:spPr>
        <p:txBody>
          <a:bodyPr wrap="square" lIns="0" tIns="0" rIns="0" bIns="0" rtlCol="0" anchor="ctr"/>
          <a:lstStyle/>
          <a:p>
            <a:pPr indent="0" marL="0">
              <a:buNone/>
            </a:pPr>
            <a:r>
              <a:rPr lang="en-US" sz="2000" dirty="0">
                <a:solidFill>
                  <a:srgbClr val="F1EEE8"/>
                </a:solidFill>
                <a:latin typeface="Calibri" pitchFamily="34" charset="0"/>
                <a:ea typeface="Calibri" pitchFamily="34" charset="-122"/>
                <a:cs typeface="Calibri" pitchFamily="34" charset="-120"/>
              </a:rPr>
              <a:t>Website nhà sản xuất nội thất ngoài trời cao cấp, có ước giá và gửi yêu cầu báo giá theo MOQ</a:t>
            </a:r>
            <a:endParaRPr lang="en-US" sz="2000" dirty="0"/>
          </a:p>
        </p:txBody>
      </p:sp>
      <p:sp>
        <p:nvSpPr>
          <p:cNvPr id="5" name="Thông tin sinh viên"/>
          <p:cNvSpPr txBox="1"/>
          <p:nvPr/>
        </p:nvSpPr>
        <p:spPr>
          <a:xfrm>
            <a:off x="548640" y="4206240"/>
            <a:ext cx="5303520" cy="1005840"/>
          </a:xfrm>
          <a:prstGeom prst="rect">
            <a:avLst/>
          </a:prstGeom>
          <a:noFill/>
          <a:ln/>
        </p:spPr>
        <p:txBody>
          <a:bodyPr wrap="square" lIns="0" tIns="0" rIns="0" bIns="0" rtlCol="0" anchor="ctr"/>
          <a:lstStyle/>
          <a:p>
            <a:pPr indent="0" marL="0">
              <a:spcAft>
                <a:spcPts val="400"/>
              </a:spcAft>
              <a:buNone/>
            </a:pPr>
            <a:r>
              <a:rPr lang="en-US" sz="1600" dirty="0">
                <a:solidFill>
                  <a:srgbClr val="D9C7AE"/>
                </a:solidFill>
                <a:latin typeface="Calibri" pitchFamily="34" charset="0"/>
                <a:ea typeface="Calibri" pitchFamily="34" charset="-122"/>
                <a:cs typeface="Calibri" pitchFamily="34" charset="-120"/>
              </a:rPr>
              <a:t>Sinh viên: Nguyễn Đăng Phát</a:t>
            </a:r>
            <a:endParaRPr lang="en-US" sz="1600" dirty="0"/>
          </a:p>
          <a:p>
            <a:pPr indent="0" marL="0">
              <a:spcAft>
                <a:spcPts val="400"/>
              </a:spcAft>
              <a:buNone/>
            </a:pPr>
            <a:r>
              <a:rPr lang="en-US" sz="1600" dirty="0">
                <a:solidFill>
                  <a:srgbClr val="D9C7AE"/>
                </a:solidFill>
                <a:latin typeface="Calibri" pitchFamily="34" charset="0"/>
                <a:ea typeface="Calibri" pitchFamily="34" charset="-122"/>
                <a:cs typeface="Calibri" pitchFamily="34" charset="-120"/>
              </a:rPr>
              <a:t>MSSV: 526000162</a:t>
            </a:r>
            <a:endParaRPr lang="en-US" sz="1600" dirty="0"/>
          </a:p>
          <a:p>
            <a:pPr indent="0" marL="0">
              <a:spcAft>
                <a:spcPts val="400"/>
              </a:spcAft>
              <a:buNone/>
            </a:pPr>
            <a:r>
              <a:rPr lang="en-US" sz="1600" dirty="0">
                <a:solidFill>
                  <a:srgbClr val="D9C7AE"/>
                </a:solidFill>
                <a:latin typeface="Calibri" pitchFamily="34" charset="0"/>
                <a:ea typeface="Calibri" pitchFamily="34" charset="-122"/>
                <a:cs typeface="Calibri" pitchFamily="34" charset="-120"/>
              </a:rPr>
              <a:t>Trường Đại học Lạc Hồng</a:t>
            </a:r>
            <a:endParaRPr lang="en-US" sz="1600" dirty="0"/>
          </a:p>
        </p:txBody>
      </p:sp>
      <p:sp>
        <p:nvSpPr>
          <p:cNvPr id="6" name="Liên kết">
            <a:hlinkClick r:id="rId1" tooltip=""/>
          </p:cNvPr>
          <p:cNvSpPr txBox="1"/>
          <p:nvPr/>
        </p:nvSpPr>
        <p:spPr>
          <a:xfrm>
            <a:off x="548640" y="5760720"/>
            <a:ext cx="5669280" cy="320040"/>
          </a:xfrm>
          <a:prstGeom prst="rect">
            <a:avLst/>
          </a:prstGeom>
          <a:noFill/>
          <a:ln/>
        </p:spPr>
        <p:txBody>
          <a:bodyPr wrap="square" lIns="0" tIns="0" rIns="0" bIns="0" rtlCol="0" anchor="ctr"/>
          <a:lstStyle/>
          <a:p>
            <a:pPr indent="0" marL="0">
              <a:buNone/>
            </a:pPr>
            <a:r>
              <a:rPr lang="en-US" sz="1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nguyenphat006.github.io/Phat_NguyenDang_526000162</a:t>
            </a:r>
            <a:endParaRPr lang="en-US" sz="1400" dirty="0"/>
          </a:p>
        </p:txBody>
      </p:sp>
      <p:pic>
        <p:nvPicPr>
          <p:cNvPr id="7" name="Ảnh trang chủ" descr="C:\Users\ADMIN\AppData\Local\Temp\claude\D--Downloads-Phat-NguyenDang-526000162\875f87fc-f1f4-489a-b3be-9bbc7a956b54\scratchpad\deck/home.png">    </p:cNvPr>
          <p:cNvPicPr>
            <a:picLocks noChangeAspect="1"/>
          </p:cNvPicPr>
          <p:nvPr/>
        </p:nvPicPr>
        <p:blipFill>
          <a:blip r:embed="rId2"/>
          <a:stretch>
            <a:fillRect/>
          </a:stretch>
        </p:blipFill>
        <p:spPr>
          <a:xfrm>
            <a:off x="6355080" y="1463040"/>
            <a:ext cx="5486400" cy="3086100"/>
          </a:xfrm>
          <a:prstGeom prst="rect">
            <a:avLst/>
          </a:prstGeom>
          <a:effectLst>
            <a:outerShdw sx="100000" sy="100000" kx="0" ky="0" algn="bl" rotWithShape="0" blurRad="177800" dist="50800" dir="5400000">
              <a:srgbClr val="000000">
                <a:alpha val="50000"/>
              </a:srgbClr>
            </a:outerShdw>
          </a:effectLst>
        </p:spPr>
      </p:pic>
      <p:sp>
        <p:nvSpPr>
          <p:cNvPr id="8" name="Chú thích ảnh"/>
          <p:cNvSpPr txBox="1"/>
          <p:nvPr/>
        </p:nvSpPr>
        <p:spPr>
          <a:xfrm>
            <a:off x="6355080" y="4686300"/>
            <a:ext cx="5486400" cy="274320"/>
          </a:xfrm>
          <a:prstGeom prst="rect">
            <a:avLst/>
          </a:prstGeom>
          <a:noFill/>
          <a:ln/>
        </p:spPr>
        <p:txBody>
          <a:bodyPr wrap="square" lIns="0" tIns="0" rIns="0" bIns="0" rtlCol="0" anchor="ctr"/>
          <a:lstStyle/>
          <a:p>
            <a:pPr algn="ctr" indent="0" marL="0">
              <a:buNone/>
            </a:pPr>
            <a:r>
              <a:rPr lang="en-US" sz="1200" dirty="0">
                <a:solidFill>
                  <a:srgbClr val="D9C7AE"/>
                </a:solidFill>
                <a:latin typeface="Calibri" pitchFamily="34" charset="0"/>
                <a:ea typeface="Calibri" pitchFamily="34" charset="-122"/>
                <a:cs typeface="Calibri" pitchFamily="34" charset="-120"/>
              </a:rPr>
              <a:t>Trang chủ đang chạy trên GitHub Pages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êu đề"/>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Đề tài và mục tiêu</a:t>
            </a:r>
            <a:endParaRPr lang="en-US" sz="3400" dirty="0"/>
          </a:p>
        </p:txBody>
      </p:sp>
      <p:sp>
        <p:nvSpPr>
          <p:cNvPr id="3" name="Text 1"/>
          <p:cNvSpPr txBox="1"/>
          <p:nvPr/>
        </p:nvSpPr>
        <p:spPr>
          <a:xfrm>
            <a:off x="548640" y="1280160"/>
            <a:ext cx="6675120" cy="914400"/>
          </a:xfrm>
          <a:prstGeom prst="rect">
            <a:avLst/>
          </a:prstGeom>
          <a:noFill/>
          <a:ln/>
        </p:spPr>
        <p:txBody>
          <a:bodyPr wrap="square" lIns="0" tIns="0" rIns="0" bIns="0" rtlCol="0" anchor="ctr"/>
          <a:lstStyle/>
          <a:p>
            <a:pPr indent="0" marL="0">
              <a:buNone/>
            </a:pPr>
            <a:r>
              <a:rPr lang="en-US" sz="1800" dirty="0">
                <a:solidFill>
                  <a:schemeClr val="tx1"/>
                </a:solidFill>
                <a:latin typeface="Calibri" pitchFamily="34" charset="0"/>
                <a:ea typeface="Calibri" pitchFamily="34" charset="-122"/>
                <a:cs typeface="Calibri" pitchFamily="34" charset="-120"/>
              </a:rPr>
              <a:t>Ericss Furniture là thương hiệu giả định của một xưởng sản xuất nội thất ngoài trời cao cấp theo tiêu chuẩn châu Âu, làm từ teak, nhôm, dây thừng và mây nhựa.</a:t>
            </a:r>
            <a:endParaRPr lang="en-US" sz="1800" dirty="0"/>
          </a:p>
        </p:txBody>
      </p:sp>
      <p:sp>
        <p:nvSpPr>
          <p:cNvPr id="4" name="Text 2"/>
          <p:cNvSpPr txBox="1"/>
          <p:nvPr/>
        </p:nvSpPr>
        <p:spPr>
          <a:xfrm>
            <a:off x="548640" y="2286000"/>
            <a:ext cx="6675120" cy="914400"/>
          </a:xfrm>
          <a:prstGeom prst="rect">
            <a:avLst/>
          </a:prstGeom>
          <a:noFill/>
          <a:ln/>
        </p:spPr>
        <p:txBody>
          <a:bodyPr wrap="square" lIns="0" tIns="0" rIns="0" bIns="0" rtlCol="0" anchor="ctr"/>
          <a:lstStyle/>
          <a:p>
            <a:pPr indent="0" marL="0">
              <a:buNone/>
            </a:pPr>
            <a:r>
              <a:rPr lang="en-US" sz="1800" dirty="0">
                <a:solidFill>
                  <a:schemeClr val="accent4"/>
                </a:solidFill>
                <a:latin typeface="Calibri" pitchFamily="34" charset="0"/>
                <a:ea typeface="Calibri" pitchFamily="34" charset="-122"/>
                <a:cs typeface="Calibri" pitchFamily="34" charset="-120"/>
              </a:rPr>
              <a:t>Khách hàng chính là khách sạn, resort và nhà thầu: họ cần xem sản phẩm, biết số lượng đặt tối thiểu (MOQ), ước giá nhanh và gửi yêu cầu báo giá ngay trên website.</a:t>
            </a:r>
            <a:endParaRPr lang="en-US" sz="1800" dirty="0"/>
          </a:p>
        </p:txBody>
      </p:sp>
      <p:sp>
        <p:nvSpPr>
          <p:cNvPr id="5" name="Text 3"/>
          <p:cNvSpPr txBox="1"/>
          <p:nvPr/>
        </p:nvSpPr>
        <p:spPr>
          <a:xfrm>
            <a:off x="548640" y="3383280"/>
            <a:ext cx="6675120" cy="365760"/>
          </a:xfrm>
          <a:prstGeom prst="rect">
            <a:avLst/>
          </a:prstGeom>
          <a:noFill/>
          <a:ln/>
        </p:spPr>
        <p:txBody>
          <a:bodyPr wrap="square" lIns="0" tIns="0" rIns="0" bIns="0" rtlCol="0" anchor="ctr"/>
          <a:lstStyle/>
          <a:p>
            <a:pPr indent="0" marL="0">
              <a:buNone/>
            </a:pPr>
            <a:r>
              <a:rPr lang="en-US" sz="2000" b="1" dirty="0">
                <a:solidFill>
                  <a:schemeClr val="accent1"/>
                </a:solidFill>
                <a:latin typeface="Calibri" pitchFamily="34" charset="0"/>
                <a:ea typeface="Calibri" pitchFamily="34" charset="-122"/>
                <a:cs typeface="Calibri" pitchFamily="34" charset="-120"/>
              </a:rPr>
              <a:t>Mục tiêu</a:t>
            </a:r>
            <a:endParaRPr lang="en-US" sz="2000" dirty="0"/>
          </a:p>
        </p:txBody>
      </p:sp>
      <p:sp>
        <p:nvSpPr>
          <p:cNvPr id="6" name="Text 4"/>
          <p:cNvSpPr txBox="1"/>
          <p:nvPr/>
        </p:nvSpPr>
        <p:spPr>
          <a:xfrm>
            <a:off x="548640" y="3794760"/>
            <a:ext cx="6675120" cy="237744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Giới thiệu thương hiệu, quy trình sản xuất và bốn chất liệu</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Danh mục 26 sản phẩm, mỗi sản phẩm có SKU và MOQ riêng</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Ước giá và gửi yêu cầu báo giá, lưu vào Google Sheet</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Đáp ứng đề: HTML5, CSS, JavaScript thuần, deploy bằng GitHub Actions</a:t>
            </a:r>
            <a:endParaRPr lang="en-US" sz="1600" dirty="0"/>
          </a:p>
        </p:txBody>
      </p:sp>
      <p:sp>
        <p:nvSpPr>
          <p:cNvPr id="7" name="Thẻ"/>
          <p:cNvSpPr/>
          <p:nvPr/>
        </p:nvSpPr>
        <p:spPr>
          <a:xfrm>
            <a:off x="7772400" y="1371600"/>
            <a:ext cx="1828800" cy="2103120"/>
          </a:xfrm>
          <a:prstGeom prst="roundRect">
            <a:avLst>
              <a:gd name="adj" fmla="val 6000"/>
            </a:avLst>
          </a:prstGeom>
          <a:solidFill>
            <a:srgbClr val="F1EEE8"/>
          </a:solidFill>
          <a:ln w="12700">
            <a:solidFill>
              <a:srgbClr val="F1EEE8"/>
            </a:solidFill>
            <a:prstDash val="solid"/>
          </a:ln>
        </p:spPr>
      </p:sp>
      <p:sp>
        <p:nvSpPr>
          <p:cNvPr id="8" name="Số liệu 4"/>
          <p:cNvSpPr txBox="1"/>
          <p:nvPr/>
        </p:nvSpPr>
        <p:spPr>
          <a:xfrm>
            <a:off x="7772400" y="1691640"/>
            <a:ext cx="182880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4</a:t>
            </a:r>
            <a:endParaRPr lang="en-US" sz="5400" dirty="0"/>
          </a:p>
        </p:txBody>
      </p:sp>
      <p:sp>
        <p:nvSpPr>
          <p:cNvPr id="9" name="Text 7"/>
          <p:cNvSpPr txBox="1"/>
          <p:nvPr/>
        </p:nvSpPr>
        <p:spPr>
          <a:xfrm>
            <a:off x="7909560" y="2651760"/>
            <a:ext cx="1554480" cy="640080"/>
          </a:xfrm>
          <a:prstGeom prst="rect">
            <a:avLst/>
          </a:prstGeom>
          <a:noFill/>
          <a:ln/>
        </p:spPr>
        <p:txBody>
          <a:bodyPr wrap="square" lIns="0" tIns="0" rIns="0" bIns="0" rtlCol="0" anchor="ctr"/>
          <a:lstStyle/>
          <a:p>
            <a:pPr algn="ctr" indent="0" marL="0">
              <a:buNone/>
            </a:pPr>
            <a:r>
              <a:rPr lang="en-US" sz="1500" dirty="0">
                <a:solidFill>
                  <a:schemeClr val="accent4"/>
                </a:solidFill>
                <a:latin typeface="Calibri" pitchFamily="34" charset="0"/>
                <a:ea typeface="Calibri" pitchFamily="34" charset="-122"/>
                <a:cs typeface="Calibri" pitchFamily="34" charset="-120"/>
              </a:rPr>
              <a:t>trang web</a:t>
            </a:r>
            <a:endParaRPr lang="en-US" sz="1500" dirty="0"/>
          </a:p>
        </p:txBody>
      </p:sp>
      <p:sp>
        <p:nvSpPr>
          <p:cNvPr id="10" name="Thẻ"/>
          <p:cNvSpPr/>
          <p:nvPr/>
        </p:nvSpPr>
        <p:spPr>
          <a:xfrm>
            <a:off x="9784080" y="1371600"/>
            <a:ext cx="1828800" cy="2103120"/>
          </a:xfrm>
          <a:prstGeom prst="roundRect">
            <a:avLst>
              <a:gd name="adj" fmla="val 6000"/>
            </a:avLst>
          </a:prstGeom>
          <a:solidFill>
            <a:srgbClr val="F1EEE8"/>
          </a:solidFill>
          <a:ln w="12700">
            <a:solidFill>
              <a:srgbClr val="F1EEE8"/>
            </a:solidFill>
            <a:prstDash val="solid"/>
          </a:ln>
        </p:spPr>
      </p:sp>
      <p:sp>
        <p:nvSpPr>
          <p:cNvPr id="11" name="Số liệu 26"/>
          <p:cNvSpPr txBox="1"/>
          <p:nvPr/>
        </p:nvSpPr>
        <p:spPr>
          <a:xfrm>
            <a:off x="9784080" y="1691640"/>
            <a:ext cx="182880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26</a:t>
            </a:r>
            <a:endParaRPr lang="en-US" sz="5400" dirty="0"/>
          </a:p>
        </p:txBody>
      </p:sp>
      <p:sp>
        <p:nvSpPr>
          <p:cNvPr id="12" name="Text 10"/>
          <p:cNvSpPr txBox="1"/>
          <p:nvPr/>
        </p:nvSpPr>
        <p:spPr>
          <a:xfrm>
            <a:off x="9921240" y="2651760"/>
            <a:ext cx="1554480" cy="640080"/>
          </a:xfrm>
          <a:prstGeom prst="rect">
            <a:avLst/>
          </a:prstGeom>
          <a:noFill/>
          <a:ln/>
        </p:spPr>
        <p:txBody>
          <a:bodyPr wrap="square" lIns="0" tIns="0" rIns="0" bIns="0" rtlCol="0" anchor="ctr"/>
          <a:lstStyle/>
          <a:p>
            <a:pPr algn="ctr" indent="0" marL="0">
              <a:buNone/>
            </a:pPr>
            <a:r>
              <a:rPr lang="en-US" sz="1500" dirty="0">
                <a:solidFill>
                  <a:schemeClr val="accent4"/>
                </a:solidFill>
                <a:latin typeface="Calibri" pitchFamily="34" charset="0"/>
                <a:ea typeface="Calibri" pitchFamily="34" charset="-122"/>
                <a:cs typeface="Calibri" pitchFamily="34" charset="-120"/>
              </a:rPr>
              <a:t>sản phẩm mẫu</a:t>
            </a:r>
            <a:endParaRPr lang="en-US" sz="1500" dirty="0"/>
          </a:p>
        </p:txBody>
      </p:sp>
      <p:sp>
        <p:nvSpPr>
          <p:cNvPr id="13" name="Thẻ"/>
          <p:cNvSpPr/>
          <p:nvPr/>
        </p:nvSpPr>
        <p:spPr>
          <a:xfrm>
            <a:off x="7772400" y="3703320"/>
            <a:ext cx="1828800" cy="2103120"/>
          </a:xfrm>
          <a:prstGeom prst="roundRect">
            <a:avLst>
              <a:gd name="adj" fmla="val 6000"/>
            </a:avLst>
          </a:prstGeom>
          <a:solidFill>
            <a:srgbClr val="F1EEE8"/>
          </a:solidFill>
          <a:ln w="12700">
            <a:solidFill>
              <a:srgbClr val="F1EEE8"/>
            </a:solidFill>
            <a:prstDash val="solid"/>
          </a:ln>
        </p:spPr>
      </p:sp>
      <p:sp>
        <p:nvSpPr>
          <p:cNvPr id="14" name="Số liệu 2"/>
          <p:cNvSpPr txBox="1"/>
          <p:nvPr/>
        </p:nvSpPr>
        <p:spPr>
          <a:xfrm>
            <a:off x="7772400" y="4023360"/>
            <a:ext cx="182880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2</a:t>
            </a:r>
            <a:endParaRPr lang="en-US" sz="5400" dirty="0"/>
          </a:p>
        </p:txBody>
      </p:sp>
      <p:sp>
        <p:nvSpPr>
          <p:cNvPr id="15" name="Text 13"/>
          <p:cNvSpPr txBox="1"/>
          <p:nvPr/>
        </p:nvSpPr>
        <p:spPr>
          <a:xfrm>
            <a:off x="7909560" y="4983480"/>
            <a:ext cx="1554480" cy="640080"/>
          </a:xfrm>
          <a:prstGeom prst="rect">
            <a:avLst/>
          </a:prstGeom>
          <a:noFill/>
          <a:ln/>
        </p:spPr>
        <p:txBody>
          <a:bodyPr wrap="square" lIns="0" tIns="0" rIns="0" bIns="0" rtlCol="0" anchor="ctr"/>
          <a:lstStyle/>
          <a:p>
            <a:pPr algn="ctr" indent="0" marL="0">
              <a:buNone/>
            </a:pPr>
            <a:r>
              <a:rPr lang="en-US" sz="1500" dirty="0">
                <a:solidFill>
                  <a:schemeClr val="accent4"/>
                </a:solidFill>
                <a:latin typeface="Calibri" pitchFamily="34" charset="0"/>
                <a:ea typeface="Calibri" pitchFamily="34" charset="-122"/>
                <a:cs typeface="Calibri" pitchFamily="34" charset="-120"/>
              </a:rPr>
              <a:t>ngôn ngữ Việt · Anh</a:t>
            </a:r>
            <a:endParaRPr lang="en-US" sz="1500" dirty="0"/>
          </a:p>
        </p:txBody>
      </p:sp>
      <p:sp>
        <p:nvSpPr>
          <p:cNvPr id="16" name="Thẻ"/>
          <p:cNvSpPr/>
          <p:nvPr/>
        </p:nvSpPr>
        <p:spPr>
          <a:xfrm>
            <a:off x="9784080" y="3703320"/>
            <a:ext cx="1828800" cy="2103120"/>
          </a:xfrm>
          <a:prstGeom prst="roundRect">
            <a:avLst>
              <a:gd name="adj" fmla="val 6000"/>
            </a:avLst>
          </a:prstGeom>
          <a:solidFill>
            <a:srgbClr val="F1EEE8"/>
          </a:solidFill>
          <a:ln w="12700">
            <a:solidFill>
              <a:srgbClr val="F1EEE8"/>
            </a:solidFill>
            <a:prstDash val="solid"/>
          </a:ln>
        </p:spPr>
      </p:sp>
      <p:sp>
        <p:nvSpPr>
          <p:cNvPr id="17" name="Số liệu 0"/>
          <p:cNvSpPr txBox="1"/>
          <p:nvPr/>
        </p:nvSpPr>
        <p:spPr>
          <a:xfrm>
            <a:off x="9784080" y="4023360"/>
            <a:ext cx="182880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0</a:t>
            </a:r>
            <a:endParaRPr lang="en-US" sz="5400" dirty="0"/>
          </a:p>
        </p:txBody>
      </p:sp>
      <p:sp>
        <p:nvSpPr>
          <p:cNvPr id="18" name="Text 16"/>
          <p:cNvSpPr txBox="1"/>
          <p:nvPr/>
        </p:nvSpPr>
        <p:spPr>
          <a:xfrm>
            <a:off x="9921240" y="4983480"/>
            <a:ext cx="1554480" cy="640080"/>
          </a:xfrm>
          <a:prstGeom prst="rect">
            <a:avLst/>
          </a:prstGeom>
          <a:noFill/>
          <a:ln/>
        </p:spPr>
        <p:txBody>
          <a:bodyPr wrap="square" lIns="0" tIns="0" rIns="0" bIns="0" rtlCol="0" anchor="ctr"/>
          <a:lstStyle/>
          <a:p>
            <a:pPr algn="ctr" indent="0" marL="0">
              <a:buNone/>
            </a:pPr>
            <a:r>
              <a:rPr lang="en-US" sz="1500" dirty="0">
                <a:solidFill>
                  <a:schemeClr val="accent4"/>
                </a:solidFill>
                <a:latin typeface="Calibri" pitchFamily="34" charset="0"/>
                <a:ea typeface="Calibri" pitchFamily="34" charset="-122"/>
                <a:cs typeface="Calibri" pitchFamily="34" charset="-120"/>
              </a:rPr>
              <a:t>framework, không build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25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êu đề"/>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Nội dung website: bốn trang</a:t>
            </a:r>
            <a:endParaRPr lang="en-US" sz="3400" dirty="0"/>
          </a:p>
        </p:txBody>
      </p:sp>
      <p:sp>
        <p:nvSpPr>
          <p:cNvPr id="3" name="Phụ đề"/>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600" dirty="0">
                <a:solidFill>
                  <a:schemeClr val="accent4"/>
                </a:solidFill>
                <a:latin typeface="Calibri" pitchFamily="34" charset="0"/>
                <a:ea typeface="Calibri" pitchFamily="34" charset="-122"/>
                <a:cs typeface="Calibri" pitchFamily="34" charset="-120"/>
              </a:rPr>
              <a:t>Menu và giỏ báo giá dùng chung mọi trang; chân trang có hộp thoại GitHub của tác giả</a:t>
            </a:r>
            <a:endParaRPr lang="en-US" sz="1600" dirty="0"/>
          </a:p>
        </p:txBody>
      </p:sp>
      <p:sp>
        <p:nvSpPr>
          <p:cNvPr id="4" name="Thẻ"/>
          <p:cNvSpPr/>
          <p:nvPr/>
        </p:nvSpPr>
        <p:spPr>
          <a:xfrm>
            <a:off x="548640" y="1691640"/>
            <a:ext cx="2651760" cy="4297680"/>
          </a:xfrm>
          <a:prstGeom prst="roundRect">
            <a:avLst>
              <a:gd name="adj" fmla="val 4138"/>
            </a:avLst>
          </a:prstGeom>
          <a:solidFill>
            <a:srgbClr val="F1EEE8"/>
          </a:solidFill>
          <a:ln w="12700">
            <a:solidFill>
              <a:srgbClr val="F1EEE8"/>
            </a:solidFill>
            <a:prstDash val="solid"/>
          </a:ln>
        </p:spPr>
      </p:sp>
      <p:pic>
        <p:nvPicPr>
          <p:cNvPr id="5" name="Ảnh Trang chủ" descr="C:\Users\ADMIN\AppData\Local\Temp\claude\D--Downloads-Phat-NguyenDang-526000162\875f87fc-f1f4-489a-b3be-9bbc7a956b54\scratchpad\deck/home.png">    </p:cNvPr>
          <p:cNvPicPr>
            <a:picLocks noChangeAspect="1"/>
          </p:cNvPicPr>
          <p:nvPr/>
        </p:nvPicPr>
        <p:blipFill>
          <a:blip r:embed="rId1"/>
          <a:stretch>
            <a:fillRect/>
          </a:stretch>
        </p:blipFill>
        <p:spPr>
          <a:xfrm>
            <a:off x="685800" y="1828800"/>
            <a:ext cx="2377440" cy="1337310"/>
          </a:xfrm>
          <a:prstGeom prst="rect">
            <a:avLst/>
          </a:prstGeom>
        </p:spPr>
      </p:pic>
      <p:sp>
        <p:nvSpPr>
          <p:cNvPr id="6" name="Text 3"/>
          <p:cNvSpPr txBox="1"/>
          <p:nvPr/>
        </p:nvSpPr>
        <p:spPr>
          <a:xfrm>
            <a:off x="731520" y="3429000"/>
            <a:ext cx="2286000" cy="4114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Trang chủ</a:t>
            </a:r>
            <a:endParaRPr lang="en-US" sz="2200" dirty="0"/>
          </a:p>
        </p:txBody>
      </p:sp>
      <p:sp>
        <p:nvSpPr>
          <p:cNvPr id="7" name="Text 4"/>
          <p:cNvSpPr txBox="1"/>
          <p:nvPr/>
        </p:nvSpPr>
        <p:spPr>
          <a:xfrm>
            <a:off x="731520" y="3931920"/>
            <a:ext cx="2286000" cy="1097280"/>
          </a:xfrm>
          <a:prstGeom prst="rect">
            <a:avLst/>
          </a:prstGeom>
          <a:noFill/>
          <a:ln/>
        </p:spPr>
        <p:txBody>
          <a:bodyPr wrap="square" lIns="0" tIns="0" rIns="0" bIns="0" rtlCol="0" anchor="ctr"/>
          <a:lstStyle/>
          <a:p>
            <a:pPr indent="0" marL="0">
              <a:buNone/>
            </a:pPr>
            <a:r>
              <a:rPr lang="en-US" sz="1500" dirty="0">
                <a:solidFill>
                  <a:schemeClr val="accent4"/>
                </a:solidFill>
                <a:latin typeface="Calibri" pitchFamily="34" charset="0"/>
                <a:ea typeface="Calibri" pitchFamily="34" charset="-122"/>
                <a:cs typeface="Calibri" pitchFamily="34" charset="-120"/>
              </a:rPr>
              <a:t>Giới thiệu, bốn chất liệu, quy trình 8 bước, thư viện ảnh</a:t>
            </a:r>
            <a:endParaRPr lang="en-US" sz="1500" dirty="0"/>
          </a:p>
        </p:txBody>
      </p:sp>
      <p:sp>
        <p:nvSpPr>
          <p:cNvPr id="8" name="Text 5"/>
          <p:cNvSpPr txBox="1"/>
          <p:nvPr/>
        </p:nvSpPr>
        <p:spPr>
          <a:xfrm>
            <a:off x="731520" y="5349240"/>
            <a:ext cx="2286000" cy="365760"/>
          </a:xfrm>
          <a:prstGeom prst="rect">
            <a:avLst/>
          </a:prstGeom>
          <a:noFill/>
          <a:ln/>
        </p:spPr>
        <p:txBody>
          <a:bodyPr wrap="square" lIns="0" tIns="0" rIns="0" bIns="0" rtlCol="0" anchor="ctr"/>
          <a:lstStyle/>
          <a:p>
            <a:pPr indent="0" marL="0">
              <a:buNone/>
            </a:pPr>
            <a:r>
              <a:rPr lang="en-US" sz="1300" dirty="0">
                <a:solidFill>
                  <a:schemeClr val="accent1"/>
                </a:solidFill>
                <a:latin typeface="Courier New" pitchFamily="34" charset="0"/>
                <a:ea typeface="Courier New" pitchFamily="34" charset="-122"/>
                <a:cs typeface="Courier New" pitchFamily="34" charset="-120"/>
              </a:rPr>
              <a:t>index.html</a:t>
            </a:r>
            <a:endParaRPr lang="en-US" sz="1300" dirty="0"/>
          </a:p>
        </p:txBody>
      </p:sp>
      <p:sp>
        <p:nvSpPr>
          <p:cNvPr id="9" name="Thẻ"/>
          <p:cNvSpPr/>
          <p:nvPr/>
        </p:nvSpPr>
        <p:spPr>
          <a:xfrm>
            <a:off x="3383280" y="1691640"/>
            <a:ext cx="2651760" cy="4297680"/>
          </a:xfrm>
          <a:prstGeom prst="roundRect">
            <a:avLst>
              <a:gd name="adj" fmla="val 4138"/>
            </a:avLst>
          </a:prstGeom>
          <a:solidFill>
            <a:srgbClr val="F1EEE8"/>
          </a:solidFill>
          <a:ln w="12700">
            <a:solidFill>
              <a:srgbClr val="F1EEE8"/>
            </a:solidFill>
            <a:prstDash val="solid"/>
          </a:ln>
        </p:spPr>
      </p:sp>
      <p:pic>
        <p:nvPicPr>
          <p:cNvPr id="10" name="Ảnh Sản phẩm" descr="C:\Users\ADMIN\AppData\Local\Temp\claude\D--Downloads-Phat-NguyenDang-526000162\875f87fc-f1f4-489a-b3be-9bbc7a956b54\scratchpad\deck/products.png">    </p:cNvPr>
          <p:cNvPicPr>
            <a:picLocks noChangeAspect="1"/>
          </p:cNvPicPr>
          <p:nvPr/>
        </p:nvPicPr>
        <p:blipFill>
          <a:blip r:embed="rId2"/>
          <a:stretch>
            <a:fillRect/>
          </a:stretch>
        </p:blipFill>
        <p:spPr>
          <a:xfrm>
            <a:off x="3520440" y="1828800"/>
            <a:ext cx="2377440" cy="1337310"/>
          </a:xfrm>
          <a:prstGeom prst="rect">
            <a:avLst/>
          </a:prstGeom>
        </p:spPr>
      </p:pic>
      <p:sp>
        <p:nvSpPr>
          <p:cNvPr id="11" name="Text 7"/>
          <p:cNvSpPr txBox="1"/>
          <p:nvPr/>
        </p:nvSpPr>
        <p:spPr>
          <a:xfrm>
            <a:off x="3566160" y="3429000"/>
            <a:ext cx="2286000" cy="4114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Sản phẩm</a:t>
            </a:r>
            <a:endParaRPr lang="en-US" sz="2200" dirty="0"/>
          </a:p>
        </p:txBody>
      </p:sp>
      <p:sp>
        <p:nvSpPr>
          <p:cNvPr id="12" name="Text 8"/>
          <p:cNvSpPr txBox="1"/>
          <p:nvPr/>
        </p:nvSpPr>
        <p:spPr>
          <a:xfrm>
            <a:off x="3566160" y="3931920"/>
            <a:ext cx="2286000" cy="1097280"/>
          </a:xfrm>
          <a:prstGeom prst="rect">
            <a:avLst/>
          </a:prstGeom>
          <a:noFill/>
          <a:ln/>
        </p:spPr>
        <p:txBody>
          <a:bodyPr wrap="square" lIns="0" tIns="0" rIns="0" bIns="0" rtlCol="0" anchor="ctr"/>
          <a:lstStyle/>
          <a:p>
            <a:pPr indent="0" marL="0">
              <a:buNone/>
            </a:pPr>
            <a:r>
              <a:rPr lang="en-US" sz="1500" dirty="0">
                <a:solidFill>
                  <a:schemeClr val="accent4"/>
                </a:solidFill>
                <a:latin typeface="Calibri" pitchFamily="34" charset="0"/>
                <a:ea typeface="Calibri" pitchFamily="34" charset="-122"/>
                <a:cs typeface="Calibri" pitchFamily="34" charset="-120"/>
              </a:rPr>
              <a:t>26 sản phẩm, tìm, lọc, sắp xếp, giỏ, gửi báo giá</a:t>
            </a:r>
            <a:endParaRPr lang="en-US" sz="1500" dirty="0"/>
          </a:p>
        </p:txBody>
      </p:sp>
      <p:sp>
        <p:nvSpPr>
          <p:cNvPr id="13" name="Text 9"/>
          <p:cNvSpPr txBox="1"/>
          <p:nvPr/>
        </p:nvSpPr>
        <p:spPr>
          <a:xfrm>
            <a:off x="3566160" y="5349240"/>
            <a:ext cx="2286000" cy="365760"/>
          </a:xfrm>
          <a:prstGeom prst="rect">
            <a:avLst/>
          </a:prstGeom>
          <a:noFill/>
          <a:ln/>
        </p:spPr>
        <p:txBody>
          <a:bodyPr wrap="square" lIns="0" tIns="0" rIns="0" bIns="0" rtlCol="0" anchor="ctr"/>
          <a:lstStyle/>
          <a:p>
            <a:pPr indent="0" marL="0">
              <a:buNone/>
            </a:pPr>
            <a:r>
              <a:rPr lang="en-US" sz="1300" dirty="0">
                <a:solidFill>
                  <a:schemeClr val="accent1"/>
                </a:solidFill>
                <a:latin typeface="Courier New" pitchFamily="34" charset="0"/>
                <a:ea typeface="Courier New" pitchFamily="34" charset="-122"/>
                <a:cs typeface="Courier New" pitchFamily="34" charset="-120"/>
              </a:rPr>
              <a:t>products.html</a:t>
            </a:r>
            <a:endParaRPr lang="en-US" sz="1300" dirty="0"/>
          </a:p>
        </p:txBody>
      </p:sp>
      <p:sp>
        <p:nvSpPr>
          <p:cNvPr id="14" name="Thẻ"/>
          <p:cNvSpPr/>
          <p:nvPr/>
        </p:nvSpPr>
        <p:spPr>
          <a:xfrm>
            <a:off x="6217920" y="1691640"/>
            <a:ext cx="2651760" cy="4297680"/>
          </a:xfrm>
          <a:prstGeom prst="roundRect">
            <a:avLst>
              <a:gd name="adj" fmla="val 4138"/>
            </a:avLst>
          </a:prstGeom>
          <a:solidFill>
            <a:srgbClr val="F1EEE8"/>
          </a:solidFill>
          <a:ln w="12700">
            <a:solidFill>
              <a:srgbClr val="F1EEE8"/>
            </a:solidFill>
            <a:prstDash val="solid"/>
          </a:ln>
        </p:spPr>
      </p:sp>
      <p:pic>
        <p:nvPicPr>
          <p:cNvPr id="15" name="Ảnh Ước giá" descr="C:\Users\ADMIN\AppData\Local\Temp\claude\D--Downloads-Phat-NguyenDang-526000162\875f87fc-f1f4-489a-b3be-9bbc7a956b54\scratchpad\deck/estimator.png">    </p:cNvPr>
          <p:cNvPicPr>
            <a:picLocks noChangeAspect="1"/>
          </p:cNvPicPr>
          <p:nvPr/>
        </p:nvPicPr>
        <p:blipFill>
          <a:blip r:embed="rId3"/>
          <a:stretch>
            <a:fillRect/>
          </a:stretch>
        </p:blipFill>
        <p:spPr>
          <a:xfrm>
            <a:off x="6355080" y="1828800"/>
            <a:ext cx="2377440" cy="1337310"/>
          </a:xfrm>
          <a:prstGeom prst="rect">
            <a:avLst/>
          </a:prstGeom>
        </p:spPr>
      </p:pic>
      <p:sp>
        <p:nvSpPr>
          <p:cNvPr id="16" name="Text 11"/>
          <p:cNvSpPr txBox="1"/>
          <p:nvPr/>
        </p:nvSpPr>
        <p:spPr>
          <a:xfrm>
            <a:off x="6400800" y="3429000"/>
            <a:ext cx="2286000" cy="4114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Ước giá</a:t>
            </a:r>
            <a:endParaRPr lang="en-US" sz="2200" dirty="0"/>
          </a:p>
        </p:txBody>
      </p:sp>
      <p:sp>
        <p:nvSpPr>
          <p:cNvPr id="17" name="Text 12"/>
          <p:cNvSpPr txBox="1"/>
          <p:nvPr/>
        </p:nvSpPr>
        <p:spPr>
          <a:xfrm>
            <a:off x="6400800" y="3931920"/>
            <a:ext cx="2286000" cy="1097280"/>
          </a:xfrm>
          <a:prstGeom prst="rect">
            <a:avLst/>
          </a:prstGeom>
          <a:noFill/>
          <a:ln/>
        </p:spPr>
        <p:txBody>
          <a:bodyPr wrap="square" lIns="0" tIns="0" rIns="0" bIns="0" rtlCol="0" anchor="ctr"/>
          <a:lstStyle/>
          <a:p>
            <a:pPr indent="0" marL="0">
              <a:buNone/>
            </a:pPr>
            <a:r>
              <a:rPr lang="en-US" sz="1500" dirty="0">
                <a:solidFill>
                  <a:schemeClr val="accent4"/>
                </a:solidFill>
                <a:latin typeface="Calibri" pitchFamily="34" charset="0"/>
                <a:ea typeface="Calibri" pitchFamily="34" charset="-122"/>
                <a:cs typeface="Calibri" pitchFamily="34" charset="-120"/>
              </a:rPr>
              <a:t>Chọn loại, chất liệu, kích thước, số lượng để ra giá</a:t>
            </a:r>
            <a:endParaRPr lang="en-US" sz="1500" dirty="0"/>
          </a:p>
        </p:txBody>
      </p:sp>
      <p:sp>
        <p:nvSpPr>
          <p:cNvPr id="18" name="Text 13"/>
          <p:cNvSpPr txBox="1"/>
          <p:nvPr/>
        </p:nvSpPr>
        <p:spPr>
          <a:xfrm>
            <a:off x="6400800" y="5349240"/>
            <a:ext cx="2286000" cy="365760"/>
          </a:xfrm>
          <a:prstGeom prst="rect">
            <a:avLst/>
          </a:prstGeom>
          <a:noFill/>
          <a:ln/>
        </p:spPr>
        <p:txBody>
          <a:bodyPr wrap="square" lIns="0" tIns="0" rIns="0" bIns="0" rtlCol="0" anchor="ctr"/>
          <a:lstStyle/>
          <a:p>
            <a:pPr indent="0" marL="0">
              <a:buNone/>
            </a:pPr>
            <a:r>
              <a:rPr lang="en-US" sz="1300" dirty="0">
                <a:solidFill>
                  <a:schemeClr val="accent1"/>
                </a:solidFill>
                <a:latin typeface="Courier New" pitchFamily="34" charset="0"/>
                <a:ea typeface="Courier New" pitchFamily="34" charset="-122"/>
                <a:cs typeface="Courier New" pitchFamily="34" charset="-120"/>
              </a:rPr>
              <a:t>estimator.html</a:t>
            </a:r>
            <a:endParaRPr lang="en-US" sz="1300" dirty="0"/>
          </a:p>
        </p:txBody>
      </p:sp>
      <p:sp>
        <p:nvSpPr>
          <p:cNvPr id="19" name="Thẻ"/>
          <p:cNvSpPr/>
          <p:nvPr/>
        </p:nvSpPr>
        <p:spPr>
          <a:xfrm>
            <a:off x="9052560" y="1691640"/>
            <a:ext cx="2651760" cy="4297680"/>
          </a:xfrm>
          <a:prstGeom prst="roundRect">
            <a:avLst>
              <a:gd name="adj" fmla="val 4138"/>
            </a:avLst>
          </a:prstGeom>
          <a:solidFill>
            <a:srgbClr val="F1EEE8"/>
          </a:solidFill>
          <a:ln w="12700">
            <a:solidFill>
              <a:srgbClr val="F1EEE8"/>
            </a:solidFill>
            <a:prstDash val="solid"/>
          </a:ln>
        </p:spPr>
      </p:sp>
      <p:pic>
        <p:nvPicPr>
          <p:cNvPr id="20" name="Ảnh Liên hệ" descr="C:\Users\ADMIN\AppData\Local\Temp\claude\D--Downloads-Phat-NguyenDang-526000162\875f87fc-f1f4-489a-b3be-9bbc7a956b54\scratchpad\deck/contact.png">    </p:cNvPr>
          <p:cNvPicPr>
            <a:picLocks noChangeAspect="1"/>
          </p:cNvPicPr>
          <p:nvPr/>
        </p:nvPicPr>
        <p:blipFill>
          <a:blip r:embed="rId4"/>
          <a:stretch>
            <a:fillRect/>
          </a:stretch>
        </p:blipFill>
        <p:spPr>
          <a:xfrm>
            <a:off x="9189720" y="1828800"/>
            <a:ext cx="2377440" cy="1337310"/>
          </a:xfrm>
          <a:prstGeom prst="rect">
            <a:avLst/>
          </a:prstGeom>
        </p:spPr>
      </p:pic>
      <p:sp>
        <p:nvSpPr>
          <p:cNvPr id="21" name="Text 15"/>
          <p:cNvSpPr txBox="1"/>
          <p:nvPr/>
        </p:nvSpPr>
        <p:spPr>
          <a:xfrm>
            <a:off x="9235440" y="3429000"/>
            <a:ext cx="2286000" cy="4114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Liên hệ</a:t>
            </a:r>
            <a:endParaRPr lang="en-US" sz="2200" dirty="0"/>
          </a:p>
        </p:txBody>
      </p:sp>
      <p:sp>
        <p:nvSpPr>
          <p:cNvPr id="22" name="Text 16"/>
          <p:cNvSpPr txBox="1"/>
          <p:nvPr/>
        </p:nvSpPr>
        <p:spPr>
          <a:xfrm>
            <a:off x="9235440" y="3931920"/>
            <a:ext cx="2286000" cy="1097280"/>
          </a:xfrm>
          <a:prstGeom prst="rect">
            <a:avLst/>
          </a:prstGeom>
          <a:noFill/>
          <a:ln/>
        </p:spPr>
        <p:txBody>
          <a:bodyPr wrap="square" lIns="0" tIns="0" rIns="0" bIns="0" rtlCol="0" anchor="ctr"/>
          <a:lstStyle/>
          <a:p>
            <a:pPr indent="0" marL="0">
              <a:buNone/>
            </a:pPr>
            <a:r>
              <a:rPr lang="en-US" sz="1500" dirty="0">
                <a:solidFill>
                  <a:schemeClr val="accent4"/>
                </a:solidFill>
                <a:latin typeface="Calibri" pitchFamily="34" charset="0"/>
                <a:ea typeface="Calibri" pitchFamily="34" charset="-122"/>
                <a:cs typeface="Calibri" pitchFamily="34" charset="-120"/>
              </a:rPr>
              <a:t>Biểu mẫu báo giá, lịch sử yêu cầu, tải Excel</a:t>
            </a:r>
            <a:endParaRPr lang="en-US" sz="1500" dirty="0"/>
          </a:p>
        </p:txBody>
      </p:sp>
      <p:sp>
        <p:nvSpPr>
          <p:cNvPr id="23" name="Text 17"/>
          <p:cNvSpPr txBox="1"/>
          <p:nvPr/>
        </p:nvSpPr>
        <p:spPr>
          <a:xfrm>
            <a:off x="9235440" y="5349240"/>
            <a:ext cx="2286000" cy="365760"/>
          </a:xfrm>
          <a:prstGeom prst="rect">
            <a:avLst/>
          </a:prstGeom>
          <a:noFill/>
          <a:ln/>
        </p:spPr>
        <p:txBody>
          <a:bodyPr wrap="square" lIns="0" tIns="0" rIns="0" bIns="0" rtlCol="0" anchor="ctr"/>
          <a:lstStyle/>
          <a:p>
            <a:pPr indent="0" marL="0">
              <a:buNone/>
            </a:pPr>
            <a:r>
              <a:rPr lang="en-US" sz="1300" dirty="0">
                <a:solidFill>
                  <a:schemeClr val="accent1"/>
                </a:solidFill>
                <a:latin typeface="Courier New" pitchFamily="34" charset="0"/>
                <a:ea typeface="Courier New" pitchFamily="34" charset="-122"/>
                <a:cs typeface="Courier New" pitchFamily="34" charset="-120"/>
              </a:rPr>
              <a:t>contact.html</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25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êu đề"/>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Trang chủ: giới thiệu thương hiệu</a:t>
            </a:r>
            <a:endParaRPr lang="en-US" sz="3400" dirty="0"/>
          </a:p>
        </p:txBody>
      </p:sp>
      <p:sp>
        <p:nvSpPr>
          <p:cNvPr id="3" name="Khung ảnh home"/>
          <p:cNvSpPr/>
          <p:nvPr/>
        </p:nvSpPr>
        <p:spPr>
          <a:xfrm>
            <a:off x="512064" y="1335024"/>
            <a:ext cx="6291072" cy="3570732"/>
          </a:xfrm>
          <a:prstGeom prst="rect">
            <a:avLst/>
          </a:prstGeom>
          <a:solidFill>
            <a:srgbClr val="FFFFFF"/>
          </a:solidFill>
          <a:ln w="9525">
            <a:solidFill>
              <a:srgbClr val="D9D4CA"/>
            </a:solidFill>
            <a:prstDash val="solid"/>
          </a:ln>
          <a:effectLst>
            <a:outerShdw sx="100000" sy="100000" kx="0" ky="0" algn="bl" rotWithShape="0" blurRad="127000" dist="38100" dir="5400000">
              <a:srgbClr val="000000">
                <a:alpha val="18000"/>
              </a:srgbClr>
            </a:outerShdw>
          </a:effectLst>
        </p:spPr>
      </p:sp>
      <p:pic>
        <p:nvPicPr>
          <p:cNvPr id="4" name="Ảnh home" descr="C:\Users\ADMIN\AppData\Local\Temp\claude\D--Downloads-Phat-NguyenDang-526000162\875f87fc-f1f4-489a-b3be-9bbc7a956b54\scratchpad\deck/home.png">    </p:cNvPr>
          <p:cNvPicPr>
            <a:picLocks noChangeAspect="1"/>
          </p:cNvPicPr>
          <p:nvPr/>
        </p:nvPicPr>
        <p:blipFill>
          <a:blip r:embed="rId1"/>
          <a:stretch>
            <a:fillRect/>
          </a:stretch>
        </p:blipFill>
        <p:spPr>
          <a:xfrm>
            <a:off x="548640" y="1371600"/>
            <a:ext cx="6217920" cy="3497580"/>
          </a:xfrm>
          <a:prstGeom prst="rect">
            <a:avLst/>
          </a:prstGeom>
        </p:spPr>
      </p:pic>
      <p:pic>
        <p:nvPicPr>
          <p:cNvPr id="5" name="Ảnh quy trình" descr="C:\Users\ADMIN\AppData\Local\Temp\claude\D--Downloads-Phat-NguyenDang-526000162\875f87fc-f1f4-489a-b3be-9bbc7a956b54\scratchpad\deck/home_process.png">    </p:cNvPr>
          <p:cNvPicPr>
            <a:picLocks noChangeAspect="1"/>
          </p:cNvPicPr>
          <p:nvPr/>
        </p:nvPicPr>
        <p:blipFill>
          <a:blip r:embed="rId2"/>
          <a:stretch>
            <a:fillRect/>
          </a:stretch>
        </p:blipFill>
        <p:spPr>
          <a:xfrm>
            <a:off x="548640" y="5029200"/>
            <a:ext cx="1965960" cy="1105853"/>
          </a:xfrm>
          <a:prstGeom prst="rect">
            <a:avLst/>
          </a:prstGeom>
        </p:spPr>
      </p:pic>
      <p:pic>
        <p:nvPicPr>
          <p:cNvPr id="6" name="Ảnh bộ sưu tập" descr="C:\Users\ADMIN\AppData\Local\Temp\claude\D--Downloads-Phat-NguyenDang-526000162\875f87fc-f1f4-489a-b3be-9bbc7a956b54\scratchpad\deck/home_collections.png">    </p:cNvPr>
          <p:cNvPicPr>
            <a:picLocks noChangeAspect="1"/>
          </p:cNvPicPr>
          <p:nvPr/>
        </p:nvPicPr>
        <p:blipFill>
          <a:blip r:embed="rId3"/>
          <a:stretch>
            <a:fillRect/>
          </a:stretch>
        </p:blipFill>
        <p:spPr>
          <a:xfrm>
            <a:off x="2651760" y="5029200"/>
            <a:ext cx="1965960" cy="1105853"/>
          </a:xfrm>
          <a:prstGeom prst="rect">
            <a:avLst/>
          </a:prstGeom>
        </p:spPr>
      </p:pic>
      <p:pic>
        <p:nvPicPr>
          <p:cNvPr id="7" name="Ảnh thư viện" descr="C:\Users\ADMIN\AppData\Local\Temp\claude\D--Downloads-Phat-NguyenDang-526000162\875f87fc-f1f4-489a-b3be-9bbc7a956b54\scratchpad\deck/home_gallery.png">    </p:cNvPr>
          <p:cNvPicPr>
            <a:picLocks noChangeAspect="1"/>
          </p:cNvPicPr>
          <p:nvPr/>
        </p:nvPicPr>
        <p:blipFill>
          <a:blip r:embed="rId4"/>
          <a:stretch>
            <a:fillRect/>
          </a:stretch>
        </p:blipFill>
        <p:spPr>
          <a:xfrm>
            <a:off x="4754880" y="5029200"/>
            <a:ext cx="1965960" cy="1105853"/>
          </a:xfrm>
          <a:prstGeom prst="rect">
            <a:avLst/>
          </a:prstGeom>
        </p:spPr>
      </p:pic>
      <p:sp>
        <p:nvSpPr>
          <p:cNvPr id="8" name="Text 2"/>
          <p:cNvSpPr txBox="1"/>
          <p:nvPr/>
        </p:nvSpPr>
        <p:spPr>
          <a:xfrm>
            <a:off x="7223760" y="1371600"/>
            <a:ext cx="4480560" cy="4754880"/>
          </a:xfrm>
          <a:prstGeom prst="rect">
            <a:avLst/>
          </a:prstGeom>
          <a:noFill/>
          <a:ln/>
        </p:spPr>
        <p:txBody>
          <a:bodyPr wrap="square" lIns="0" tIns="0" rIns="0" bIns="0" rtlCol="0" anchor="t"/>
          <a:lstStyle/>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Hero: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tiêu đề lớn, hình vòm, hai nút kêu gọi hành động</a:t>
            </a:r>
            <a:endParaRPr lang="en-US" sz="1600" dirty="0"/>
          </a:p>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Băng số liệu: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năm thành lập, nhân sự, diện tích xưởng, chất liệu</a:t>
            </a:r>
            <a:endParaRPr lang="en-US" sz="1600" dirty="0"/>
          </a:p>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Bốn chất liệu: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mỗi thẻ dẫn thẳng sang danh mục đã lọc</a:t>
            </a:r>
            <a:endParaRPr lang="en-US" sz="1600" dirty="0"/>
          </a:p>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Quy trình 8 bước: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từ lựa gỗ đến hoàn thiện</a:t>
            </a:r>
            <a:endParaRPr lang="en-US" sz="1600" dirty="0"/>
          </a:p>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Thư viện ảnh: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lọc theo chất liệu</a:t>
            </a:r>
            <a:endParaRPr lang="en-US" sz="1600" dirty="0"/>
          </a:p>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Hiệu ứng: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Animate.css, AOS, GSAP, vanilla-tilt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25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êu đề"/>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Trang sản phẩm: 26 mẫu có SKU và MOQ</a:t>
            </a:r>
            <a:endParaRPr lang="en-US" sz="3400" dirty="0"/>
          </a:p>
        </p:txBody>
      </p:sp>
      <p:sp>
        <p:nvSpPr>
          <p:cNvPr id="3" name="Khung ảnh products"/>
          <p:cNvSpPr/>
          <p:nvPr/>
        </p:nvSpPr>
        <p:spPr>
          <a:xfrm>
            <a:off x="512064" y="1335024"/>
            <a:ext cx="7022592" cy="3982212"/>
          </a:xfrm>
          <a:prstGeom prst="rect">
            <a:avLst/>
          </a:prstGeom>
          <a:solidFill>
            <a:srgbClr val="FFFFFF"/>
          </a:solidFill>
          <a:ln w="9525">
            <a:solidFill>
              <a:srgbClr val="D9D4CA"/>
            </a:solidFill>
            <a:prstDash val="solid"/>
          </a:ln>
          <a:effectLst>
            <a:outerShdw sx="100000" sy="100000" kx="0" ky="0" algn="bl" rotWithShape="0" blurRad="127000" dist="38100" dir="5400000">
              <a:srgbClr val="000000">
                <a:alpha val="18000"/>
              </a:srgbClr>
            </a:outerShdw>
          </a:effectLst>
        </p:spPr>
      </p:sp>
      <p:pic>
        <p:nvPicPr>
          <p:cNvPr id="4" name="Ảnh products" descr="C:\Users\ADMIN\AppData\Local\Temp\claude\D--Downloads-Phat-NguyenDang-526000162\875f87fc-f1f4-489a-b3be-9bbc7a956b54\scratchpad\deck/products.png">    </p:cNvPr>
          <p:cNvPicPr>
            <a:picLocks noChangeAspect="1"/>
          </p:cNvPicPr>
          <p:nvPr/>
        </p:nvPicPr>
        <p:blipFill>
          <a:blip r:embed="rId1"/>
          <a:stretch>
            <a:fillRect/>
          </a:stretch>
        </p:blipFill>
        <p:spPr>
          <a:xfrm>
            <a:off x="548640" y="1371600"/>
            <a:ext cx="6949440" cy="3909060"/>
          </a:xfrm>
          <a:prstGeom prst="rect">
            <a:avLst/>
          </a:prstGeom>
        </p:spPr>
      </p:pic>
      <p:sp>
        <p:nvSpPr>
          <p:cNvPr id="5" name="Text 2"/>
          <p:cNvSpPr txBox="1"/>
          <p:nvPr/>
        </p:nvSpPr>
        <p:spPr>
          <a:xfrm>
            <a:off x="7863840" y="1371600"/>
            <a:ext cx="3840480" cy="4206240"/>
          </a:xfrm>
          <a:prstGeom prst="rect">
            <a:avLst/>
          </a:prstGeom>
          <a:noFill/>
          <a:ln/>
        </p:spPr>
        <p:txBody>
          <a:bodyPr wrap="square" lIns="0" tIns="0" rIns="0" bIns="0" rtlCol="0" anchor="t"/>
          <a:lstStyle/>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Tìm kiếm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theo tên, chất liệu hoặc SKU, không phân biệt dấu</a:t>
            </a:r>
            <a:endParaRPr lang="en-US" sz="1600" dirty="0"/>
          </a:p>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Lọc và sắp xếp: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chất liệu, giá tối đa, giá, tên</a:t>
            </a:r>
            <a:endParaRPr lang="en-US" sz="1600" dirty="0"/>
          </a:p>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Phân trang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bằng nút "Xem thêm" (12 mẫu mỗi lần)</a:t>
            </a:r>
            <a:endParaRPr lang="en-US" sz="1600" dirty="0"/>
          </a:p>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Yêu thích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và thêm vào giỏ báo giá, lưu trên thiết bị</a:t>
            </a:r>
            <a:endParaRPr lang="en-US" sz="1600" dirty="0"/>
          </a:p>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Mỗi thẻ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có MOQ xưởng và nút "Gửi báo giá"</a:t>
            </a:r>
            <a:endParaRPr lang="en-US" sz="1600" dirty="0"/>
          </a:p>
        </p:txBody>
      </p:sp>
      <p:sp>
        <p:nvSpPr>
          <p:cNvPr id="6" name="Thẻ"/>
          <p:cNvSpPr/>
          <p:nvPr/>
        </p:nvSpPr>
        <p:spPr>
          <a:xfrm>
            <a:off x="7863840" y="5029200"/>
            <a:ext cx="3840480" cy="1097280"/>
          </a:xfrm>
          <a:prstGeom prst="roundRect">
            <a:avLst>
              <a:gd name="adj" fmla="val 10000"/>
            </a:avLst>
          </a:prstGeom>
          <a:solidFill>
            <a:srgbClr val="F1EEE8"/>
          </a:solidFill>
          <a:ln w="12700">
            <a:solidFill>
              <a:srgbClr val="F1EEE8"/>
            </a:solidFill>
            <a:prstDash val="solid"/>
          </a:ln>
        </p:spPr>
      </p:sp>
      <p:sp>
        <p:nvSpPr>
          <p:cNvPr id="7" name="Text 4"/>
          <p:cNvSpPr txBox="1"/>
          <p:nvPr/>
        </p:nvSpPr>
        <p:spPr>
          <a:xfrm>
            <a:off x="8046720" y="5120640"/>
            <a:ext cx="3474720" cy="914400"/>
          </a:xfrm>
          <a:prstGeom prst="rect">
            <a:avLst/>
          </a:prstGeom>
          <a:noFill/>
          <a:ln/>
        </p:spPr>
        <p:txBody>
          <a:bodyPr wrap="square" lIns="0" tIns="0" rIns="0" bIns="0" rtlCol="0" anchor="ctr"/>
          <a:lstStyle/>
          <a:p>
            <a:pPr indent="0" marL="0">
              <a:buNone/>
            </a:pPr>
            <a:r>
              <a:rPr lang="en-US" sz="1400" dirty="0">
                <a:solidFill>
                  <a:schemeClr val="accent4"/>
                </a:solidFill>
                <a:latin typeface="Calibri" pitchFamily="34" charset="0"/>
                <a:ea typeface="Calibri" pitchFamily="34" charset="-122"/>
                <a:cs typeface="Calibri" pitchFamily="34" charset="-120"/>
              </a:rPr>
              <a:t>Dữ liệu sản phẩm nằm trong bảng JSON: muốn đổi giá hay thêm mẫu chỉ sửa dữ liệu, không sửa mã.</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25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êu đề"/>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Biểu mẫu báo giá theo MOQ</a:t>
            </a:r>
            <a:endParaRPr lang="en-US" sz="3400" dirty="0"/>
          </a:p>
        </p:txBody>
      </p:sp>
      <p:sp>
        <p:nvSpPr>
          <p:cNvPr id="3" name="Khung ảnh dialog_filled"/>
          <p:cNvSpPr/>
          <p:nvPr/>
        </p:nvSpPr>
        <p:spPr>
          <a:xfrm>
            <a:off x="512064" y="1335024"/>
            <a:ext cx="6839712" cy="3879342"/>
          </a:xfrm>
          <a:prstGeom prst="rect">
            <a:avLst/>
          </a:prstGeom>
          <a:solidFill>
            <a:srgbClr val="FFFFFF"/>
          </a:solidFill>
          <a:ln w="9525">
            <a:solidFill>
              <a:srgbClr val="D9D4CA"/>
            </a:solidFill>
            <a:prstDash val="solid"/>
          </a:ln>
          <a:effectLst>
            <a:outerShdw sx="100000" sy="100000" kx="0" ky="0" algn="bl" rotWithShape="0" blurRad="127000" dist="38100" dir="5400000">
              <a:srgbClr val="000000">
                <a:alpha val="18000"/>
              </a:srgbClr>
            </a:outerShdw>
          </a:effectLst>
        </p:spPr>
      </p:sp>
      <p:pic>
        <p:nvPicPr>
          <p:cNvPr id="4" name="Ảnh dialog_filled" descr="C:\Users\ADMIN\AppData\Local\Temp\claude\D--Downloads-Phat-NguyenDang-526000162\875f87fc-f1f4-489a-b3be-9bbc7a956b54\scratchpad\deck/dialog_filled.png">    </p:cNvPr>
          <p:cNvPicPr>
            <a:picLocks noChangeAspect="1"/>
          </p:cNvPicPr>
          <p:nvPr/>
        </p:nvPicPr>
        <p:blipFill>
          <a:blip r:embed="rId1"/>
          <a:stretch>
            <a:fillRect/>
          </a:stretch>
        </p:blipFill>
        <p:spPr>
          <a:xfrm>
            <a:off x="548640" y="1371600"/>
            <a:ext cx="6766560" cy="3806190"/>
          </a:xfrm>
          <a:prstGeom prst="rect">
            <a:avLst/>
          </a:prstGeom>
        </p:spPr>
      </p:pic>
      <p:sp>
        <p:nvSpPr>
          <p:cNvPr id="5" name="Text 2"/>
          <p:cNvSpPr txBox="1"/>
          <p:nvPr/>
        </p:nvSpPr>
        <p:spPr>
          <a:xfrm>
            <a:off x="7680960" y="1371600"/>
            <a:ext cx="4023360" cy="2926080"/>
          </a:xfrm>
          <a:prstGeom prst="rect">
            <a:avLst/>
          </a:prstGeom>
          <a:noFill/>
          <a:ln/>
        </p:spPr>
        <p:txBody>
          <a:bodyPr wrap="square" lIns="0" tIns="0" rIns="0" bIns="0" rtlCol="0" anchor="t"/>
          <a:lstStyle/>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Một biểu mẫu duy nhất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dùng cho hộp thoại ở trang Sản phẩm và trang Liên hệ</a:t>
            </a:r>
            <a:endParaRPr lang="en-US" sz="1600" dirty="0"/>
          </a:p>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Chọn sản phẩm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rồi nhập số lượng muốn đặt; so với MOQ xưởng để báo đạt hay chưa</a:t>
            </a:r>
            <a:endParaRPr lang="en-US" sz="1600" dirty="0"/>
          </a:p>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Gợi ý nhanh: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1×, 2×, 5× MOQ</a:t>
            </a:r>
            <a:endParaRPr lang="en-US" sz="1600" dirty="0"/>
          </a:p>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Tạm tính: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chiết khấu số lượng, mã giảm giá, VAT 10%</a:t>
            </a:r>
            <a:endParaRPr lang="en-US" sz="1600" dirty="0"/>
          </a:p>
        </p:txBody>
      </p:sp>
      <p:sp>
        <p:nvSpPr>
          <p:cNvPr id="6" name="Thẻ"/>
          <p:cNvSpPr/>
          <p:nvPr/>
        </p:nvSpPr>
        <p:spPr>
          <a:xfrm>
            <a:off x="7680960" y="4434840"/>
            <a:ext cx="4023360" cy="1554480"/>
          </a:xfrm>
          <a:prstGeom prst="roundRect">
            <a:avLst>
              <a:gd name="adj" fmla="val 7059"/>
            </a:avLst>
          </a:prstGeom>
          <a:solidFill>
            <a:srgbClr val="F1EEE8"/>
          </a:solidFill>
          <a:ln w="12700">
            <a:solidFill>
              <a:srgbClr val="F1EEE8"/>
            </a:solidFill>
            <a:prstDash val="solid"/>
          </a:ln>
        </p:spPr>
      </p:sp>
      <p:sp>
        <p:nvSpPr>
          <p:cNvPr id="7" name="Text 4"/>
          <p:cNvSpPr txBox="1"/>
          <p:nvPr/>
        </p:nvSpPr>
        <p:spPr>
          <a:xfrm>
            <a:off x="7863840" y="4526280"/>
            <a:ext cx="3657600" cy="27432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Ví dụ</a:t>
            </a:r>
            <a:endParaRPr lang="en-US" sz="1400" dirty="0"/>
          </a:p>
        </p:txBody>
      </p:sp>
      <p:sp>
        <p:nvSpPr>
          <p:cNvPr id="8" name="Text 5"/>
          <p:cNvSpPr txBox="1"/>
          <p:nvPr/>
        </p:nvSpPr>
        <p:spPr>
          <a:xfrm>
            <a:off x="7863840" y="4846320"/>
            <a:ext cx="365760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50 ghế × 6.800.000 ₫ = 340.000.000 ₫</a:t>
            </a:r>
            <a:endParaRPr lang="en-US" sz="1400" dirty="0"/>
          </a:p>
          <a:p>
            <a:pPr indent="0" marL="0">
              <a:buNone/>
            </a:pPr>
            <a:r>
              <a:rPr lang="en-US" sz="1400" dirty="0">
                <a:solidFill>
                  <a:schemeClr val="tx1"/>
                </a:solidFill>
                <a:latin typeface="Calibri" pitchFamily="34" charset="0"/>
                <a:ea typeface="Calibri" pitchFamily="34" charset="-122"/>
                <a:cs typeface="Calibri" pitchFamily="34" charset="-120"/>
              </a:rPr>
              <a:t>Trừ 8% (từ 20 sản phẩm) còn 312.800.000 ₫</a:t>
            </a:r>
            <a:endParaRPr lang="en-US" sz="1400" dirty="0"/>
          </a:p>
          <a:p>
            <a:pPr indent="0" marL="0">
              <a:buNone/>
            </a:pPr>
            <a:r>
              <a:rPr lang="en-US" sz="1400" dirty="0">
                <a:solidFill>
                  <a:schemeClr val="tx1"/>
                </a:solidFill>
                <a:latin typeface="Calibri" pitchFamily="34" charset="0"/>
                <a:ea typeface="Calibri" pitchFamily="34" charset="-122"/>
                <a:cs typeface="Calibri" pitchFamily="34" charset="-120"/>
              </a:rPr>
              <a:t>Cộng VAT 10%: 344.080.000 ₫</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25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êu đề"/>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Sau khi gửi: lưu, email, mã QR</a:t>
            </a:r>
            <a:endParaRPr lang="en-US" sz="3400" dirty="0"/>
          </a:p>
        </p:txBody>
      </p:sp>
      <p:sp>
        <p:nvSpPr>
          <p:cNvPr id="3" name="Khung ảnh success"/>
          <p:cNvSpPr/>
          <p:nvPr/>
        </p:nvSpPr>
        <p:spPr>
          <a:xfrm>
            <a:off x="512064" y="1335024"/>
            <a:ext cx="5925312" cy="3364992"/>
          </a:xfrm>
          <a:prstGeom prst="rect">
            <a:avLst/>
          </a:prstGeom>
          <a:solidFill>
            <a:srgbClr val="FFFFFF"/>
          </a:solidFill>
          <a:ln w="9525">
            <a:solidFill>
              <a:srgbClr val="D9D4CA"/>
            </a:solidFill>
            <a:prstDash val="solid"/>
          </a:ln>
          <a:effectLst>
            <a:outerShdw sx="100000" sy="100000" kx="0" ky="0" algn="bl" rotWithShape="0" blurRad="127000" dist="38100" dir="5400000">
              <a:srgbClr val="000000">
                <a:alpha val="18000"/>
              </a:srgbClr>
            </a:outerShdw>
          </a:effectLst>
        </p:spPr>
      </p:sp>
      <p:pic>
        <p:nvPicPr>
          <p:cNvPr id="4" name="Ảnh success" descr="C:\Users\ADMIN\AppData\Local\Temp\claude\D--Downloads-Phat-NguyenDang-526000162\875f87fc-f1f4-489a-b3be-9bbc7a956b54\scratchpad\deck/success.png">    </p:cNvPr>
          <p:cNvPicPr>
            <a:picLocks noChangeAspect="1"/>
          </p:cNvPicPr>
          <p:nvPr/>
        </p:nvPicPr>
        <p:blipFill>
          <a:blip r:embed="rId1"/>
          <a:stretch>
            <a:fillRect/>
          </a:stretch>
        </p:blipFill>
        <p:spPr>
          <a:xfrm>
            <a:off x="548640" y="1371600"/>
            <a:ext cx="5852160" cy="3291840"/>
          </a:xfrm>
          <a:prstGeom prst="rect">
            <a:avLst/>
          </a:prstGeom>
        </p:spPr>
      </p:pic>
      <p:sp>
        <p:nvSpPr>
          <p:cNvPr id="5" name="Số 1"/>
          <p:cNvSpPr/>
          <p:nvPr/>
        </p:nvSpPr>
        <p:spPr>
          <a:xfrm>
            <a:off x="6766560" y="1417320"/>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6766560" y="1417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7360920" y="1371600"/>
            <a:ext cx="4343400" cy="7772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Lưu trên thiết bị</a:t>
            </a:r>
            <a:endParaRPr lang="en-US" sz="1600" dirty="0"/>
          </a:p>
          <a:p>
            <a:pPr indent="0" marL="0">
              <a:buNone/>
            </a:pPr>
            <a:r>
              <a:rPr lang="en-US" sz="1400" dirty="0">
                <a:solidFill>
                  <a:srgbClr val="6B6258"/>
                </a:solidFill>
                <a:latin typeface="Calibri" pitchFamily="34" charset="0"/>
                <a:ea typeface="Calibri" pitchFamily="34" charset="-122"/>
                <a:cs typeface="Calibri" pitchFamily="34" charset="-120"/>
              </a:rPr>
              <a:t>yêu cầu được lưu trước, mất mạng vẫn không mất</a:t>
            </a:r>
            <a:endParaRPr lang="en-US" sz="1600" dirty="0"/>
          </a:p>
        </p:txBody>
      </p:sp>
      <p:sp>
        <p:nvSpPr>
          <p:cNvPr id="8" name="Số 2"/>
          <p:cNvSpPr/>
          <p:nvPr/>
        </p:nvSpPr>
        <p:spPr>
          <a:xfrm>
            <a:off x="6766560" y="2514600"/>
            <a:ext cx="457200" cy="457200"/>
          </a:xfrm>
          <a:prstGeom prst="ellipse">
            <a:avLst/>
          </a:prstGeom>
          <a:solidFill>
            <a:schemeClr val="accent1"/>
          </a:solidFill>
          <a:ln w="12700">
            <a:solidFill>
              <a:schemeClr val="accent1"/>
            </a:solidFill>
            <a:prstDash val="solid"/>
          </a:ln>
        </p:spPr>
      </p:sp>
      <p:sp>
        <p:nvSpPr>
          <p:cNvPr id="9" name="Text 6"/>
          <p:cNvSpPr txBox="1"/>
          <p:nvPr/>
        </p:nvSpPr>
        <p:spPr>
          <a:xfrm>
            <a:off x="6766560" y="2514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txBox="1"/>
          <p:nvPr/>
        </p:nvSpPr>
        <p:spPr>
          <a:xfrm>
            <a:off x="7360920" y="2468880"/>
            <a:ext cx="4343400" cy="7772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Gửi lên Apps Script</a:t>
            </a:r>
            <a:endParaRPr lang="en-US" sz="1600" dirty="0"/>
          </a:p>
          <a:p>
            <a:pPr indent="0" marL="0">
              <a:buNone/>
            </a:pPr>
            <a:r>
              <a:rPr lang="en-US" sz="1400" dirty="0">
                <a:solidFill>
                  <a:srgbClr val="6B6258"/>
                </a:solidFill>
                <a:latin typeface="Calibri" pitchFamily="34" charset="0"/>
                <a:ea typeface="Calibri" pitchFamily="34" charset="-122"/>
                <a:cs typeface="Calibri" pitchFamily="34" charset="-120"/>
              </a:rPr>
              <a:t>qua một đường link, ghi một dòng vào Google Sheet</a:t>
            </a:r>
            <a:endParaRPr lang="en-US" sz="1600" dirty="0"/>
          </a:p>
        </p:txBody>
      </p:sp>
      <p:sp>
        <p:nvSpPr>
          <p:cNvPr id="11" name="Số 3"/>
          <p:cNvSpPr/>
          <p:nvPr/>
        </p:nvSpPr>
        <p:spPr>
          <a:xfrm>
            <a:off x="6766560" y="3611880"/>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6766560" y="3611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0"/>
          <p:cNvSpPr txBox="1"/>
          <p:nvPr/>
        </p:nvSpPr>
        <p:spPr>
          <a:xfrm>
            <a:off x="7360920" y="3566160"/>
            <a:ext cx="4343400" cy="7772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Email cảm ơn</a:t>
            </a:r>
            <a:endParaRPr lang="en-US" sz="1600" dirty="0"/>
          </a:p>
          <a:p>
            <a:pPr indent="0" marL="0">
              <a:buNone/>
            </a:pPr>
            <a:r>
              <a:rPr lang="en-US" sz="1400" dirty="0">
                <a:solidFill>
                  <a:srgbClr val="6B6258"/>
                </a:solidFill>
                <a:latin typeface="Calibri" pitchFamily="34" charset="0"/>
                <a:ea typeface="Calibri" pitchFamily="34" charset="-122"/>
                <a:cs typeface="Calibri" pitchFamily="34" charset="-120"/>
              </a:rPr>
              <a:t>gửi tự động đến email khách, kèm mã QR</a:t>
            </a:r>
            <a:endParaRPr lang="en-US" sz="1600" dirty="0"/>
          </a:p>
        </p:txBody>
      </p:sp>
      <p:sp>
        <p:nvSpPr>
          <p:cNvPr id="14" name="Số 4"/>
          <p:cNvSpPr/>
          <p:nvPr/>
        </p:nvSpPr>
        <p:spPr>
          <a:xfrm>
            <a:off x="6766560" y="4709160"/>
            <a:ext cx="457200" cy="457200"/>
          </a:xfrm>
          <a:prstGeom prst="ellipse">
            <a:avLst/>
          </a:prstGeom>
          <a:solidFill>
            <a:schemeClr val="accent1"/>
          </a:solidFill>
          <a:ln w="12700">
            <a:solidFill>
              <a:schemeClr val="accent1"/>
            </a:solidFill>
            <a:prstDash val="solid"/>
          </a:ln>
        </p:spPr>
      </p:sp>
      <p:sp>
        <p:nvSpPr>
          <p:cNvPr id="15" name="Text 12"/>
          <p:cNvSpPr txBox="1"/>
          <p:nvPr/>
        </p:nvSpPr>
        <p:spPr>
          <a:xfrm>
            <a:off x="6766560" y="4709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3"/>
          <p:cNvSpPr txBox="1"/>
          <p:nvPr/>
        </p:nvSpPr>
        <p:spPr>
          <a:xfrm>
            <a:off x="7360920" y="4663440"/>
            <a:ext cx="4343400" cy="7772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Mã QR</a:t>
            </a:r>
            <a:endParaRPr lang="en-US" sz="1600" dirty="0"/>
          </a:p>
          <a:p>
            <a:pPr indent="0" marL="0">
              <a:buNone/>
            </a:pPr>
            <a:r>
              <a:rPr lang="en-US" sz="1400" dirty="0">
                <a:solidFill>
                  <a:srgbClr val="6B6258"/>
                </a:solidFill>
                <a:latin typeface="Calibri" pitchFamily="34" charset="0"/>
                <a:ea typeface="Calibri" pitchFamily="34" charset="-122"/>
                <a:cs typeface="Calibri" pitchFamily="34" charset="-120"/>
              </a:rPr>
              <a:t>chứa họ tên và mã yêu cầu, hiện ngay trên trang</a:t>
            </a:r>
            <a:endParaRPr lang="en-US" sz="1600" dirty="0"/>
          </a:p>
        </p:txBody>
      </p:sp>
      <p:sp>
        <p:nvSpPr>
          <p:cNvPr id="17" name="Thẻ"/>
          <p:cNvSpPr/>
          <p:nvPr/>
        </p:nvSpPr>
        <p:spPr>
          <a:xfrm>
            <a:off x="548640" y="4892040"/>
            <a:ext cx="5852160" cy="1234440"/>
          </a:xfrm>
          <a:prstGeom prst="roundRect">
            <a:avLst>
              <a:gd name="adj" fmla="val 8889"/>
            </a:avLst>
          </a:prstGeom>
          <a:solidFill>
            <a:srgbClr val="F1EEE8"/>
          </a:solidFill>
          <a:ln w="12700">
            <a:solidFill>
              <a:srgbClr val="F1EEE8"/>
            </a:solidFill>
            <a:prstDash val="solid"/>
          </a:ln>
        </p:spPr>
      </p:sp>
      <p:sp>
        <p:nvSpPr>
          <p:cNvPr id="18" name="Text 15"/>
          <p:cNvSpPr txBox="1"/>
          <p:nvPr/>
        </p:nvSpPr>
        <p:spPr>
          <a:xfrm>
            <a:off x="777240" y="4983480"/>
            <a:ext cx="5394960" cy="10515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Chống spam: </a:t>
            </a:r>
            <a:pPr indent="0" marL="0">
              <a:buNone/>
            </a:pPr>
            <a:r>
              <a:rPr lang="en-US" sz="1500" dirty="0">
                <a:solidFill>
                  <a:schemeClr val="tx1"/>
                </a:solidFill>
                <a:latin typeface="Calibri" pitchFamily="34" charset="0"/>
                <a:ea typeface="Calibri" pitchFamily="34" charset="-122"/>
                <a:cs typeface="Calibri" pitchFamily="34" charset="-120"/>
              </a:rPr>
              <a:t>ô ẩn đánh lừa bot, form điền dưới 3 giây bị từ chối, mỗi email tối đa 3 yêu cầu mỗi giờ, giới hạn theo phút và theo giờ.</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25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êu đề"/>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Trang ước giá: cấu hình món đồ, biết giá ngay</a:t>
            </a:r>
            <a:endParaRPr lang="en-US" sz="3400" dirty="0"/>
          </a:p>
        </p:txBody>
      </p:sp>
      <p:sp>
        <p:nvSpPr>
          <p:cNvPr id="3" name="Khung ảnh estimator"/>
          <p:cNvSpPr/>
          <p:nvPr/>
        </p:nvSpPr>
        <p:spPr>
          <a:xfrm>
            <a:off x="512064" y="1335024"/>
            <a:ext cx="6839712" cy="3879342"/>
          </a:xfrm>
          <a:prstGeom prst="rect">
            <a:avLst/>
          </a:prstGeom>
          <a:solidFill>
            <a:srgbClr val="FFFFFF"/>
          </a:solidFill>
          <a:ln w="9525">
            <a:solidFill>
              <a:srgbClr val="D9D4CA"/>
            </a:solidFill>
            <a:prstDash val="solid"/>
          </a:ln>
          <a:effectLst>
            <a:outerShdw sx="100000" sy="100000" kx="0" ky="0" algn="bl" rotWithShape="0" blurRad="127000" dist="38100" dir="5400000">
              <a:srgbClr val="000000">
                <a:alpha val="18000"/>
              </a:srgbClr>
            </a:outerShdw>
          </a:effectLst>
        </p:spPr>
      </p:sp>
      <p:pic>
        <p:nvPicPr>
          <p:cNvPr id="4" name="Ảnh estimator" descr="C:\Users\ADMIN\AppData\Local\Temp\claude\D--Downloads-Phat-NguyenDang-526000162\875f87fc-f1f4-489a-b3be-9bbc7a956b54\scratchpad\deck/estimator.png">    </p:cNvPr>
          <p:cNvPicPr>
            <a:picLocks noChangeAspect="1"/>
          </p:cNvPicPr>
          <p:nvPr/>
        </p:nvPicPr>
        <p:blipFill>
          <a:blip r:embed="rId1"/>
          <a:stretch>
            <a:fillRect/>
          </a:stretch>
        </p:blipFill>
        <p:spPr>
          <a:xfrm>
            <a:off x="548640" y="1371600"/>
            <a:ext cx="6766560" cy="3806190"/>
          </a:xfrm>
          <a:prstGeom prst="rect">
            <a:avLst/>
          </a:prstGeom>
        </p:spPr>
      </p:pic>
      <p:sp>
        <p:nvSpPr>
          <p:cNvPr id="5" name="Text 2"/>
          <p:cNvSpPr txBox="1"/>
          <p:nvPr/>
        </p:nvSpPr>
        <p:spPr>
          <a:xfrm>
            <a:off x="7680960" y="1371600"/>
            <a:ext cx="4023360" cy="3108960"/>
          </a:xfrm>
          <a:prstGeom prst="rect">
            <a:avLst/>
          </a:prstGeom>
          <a:noFill/>
          <a:ln/>
        </p:spPr>
        <p:txBody>
          <a:bodyPr wrap="square" lIns="0" tIns="0" rIns="0" bIns="0" rtlCol="0" anchor="t"/>
          <a:lstStyle/>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Chọn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loại sản phẩm, chất liệu, kích thước, lớp hoàn thiện, số lượng</a:t>
            </a:r>
            <a:endParaRPr lang="en-US" sz="1600" dirty="0"/>
          </a:p>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Giá cập nhật ngay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khi đổi lựa chọn, kèm chiết khấu số lượng và VAT</a:t>
            </a:r>
            <a:endParaRPr lang="en-US" sz="1600" dirty="0"/>
          </a:p>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Thời gian sản xuất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ước tính theo bảng dữ liệu</a:t>
            </a:r>
            <a:endParaRPr lang="en-US" sz="1600" dirty="0"/>
          </a:p>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Thêm vào giỏ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để gửi cùng yêu cầu báo giá</a:t>
            </a:r>
            <a:endParaRPr lang="en-US" sz="1600" dirty="0"/>
          </a:p>
        </p:txBody>
      </p:sp>
      <p:sp>
        <p:nvSpPr>
          <p:cNvPr id="6" name="Thẻ"/>
          <p:cNvSpPr/>
          <p:nvPr/>
        </p:nvSpPr>
        <p:spPr>
          <a:xfrm>
            <a:off x="7680960" y="4617720"/>
            <a:ext cx="4023360" cy="1508760"/>
          </a:xfrm>
          <a:prstGeom prst="roundRect">
            <a:avLst>
              <a:gd name="adj" fmla="val 7273"/>
            </a:avLst>
          </a:prstGeom>
          <a:solidFill>
            <a:srgbClr val="F1EEE8"/>
          </a:solidFill>
          <a:ln w="12700">
            <a:solidFill>
              <a:srgbClr val="F1EEE8"/>
            </a:solidFill>
            <a:prstDash val="solid"/>
          </a:ln>
        </p:spPr>
      </p:sp>
      <p:sp>
        <p:nvSpPr>
          <p:cNvPr id="7" name="Text 4"/>
          <p:cNvSpPr txBox="1"/>
          <p:nvPr/>
        </p:nvSpPr>
        <p:spPr>
          <a:xfrm>
            <a:off x="7863840" y="4709160"/>
            <a:ext cx="3657600" cy="1325880"/>
          </a:xfrm>
          <a:prstGeom prst="rect">
            <a:avLst/>
          </a:prstGeom>
          <a:noFill/>
          <a:ln/>
        </p:spPr>
        <p:txBody>
          <a:bodyPr wrap="square" lIns="0" tIns="0" rIns="0" bIns="0" rtlCol="0" anchor="ctr"/>
          <a:lstStyle/>
          <a:p>
            <a:pPr indent="0" marL="0">
              <a:buNone/>
            </a:pPr>
            <a:r>
              <a:rPr lang="en-US" sz="1400" dirty="0">
                <a:solidFill>
                  <a:schemeClr val="accent4"/>
                </a:solidFill>
                <a:latin typeface="Calibri" pitchFamily="34" charset="0"/>
                <a:ea typeface="Calibri" pitchFamily="34" charset="-122"/>
                <a:cs typeface="Calibri" pitchFamily="34" charset="-120"/>
              </a:rPr>
              <a:t>Giá lưu bằng số nguyên đồng và làm tròn một chỗ duy nhất, để tránh sai số số thực khi cộng nhiều dòng.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25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êu đề"/>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Giỏ báo giá, lịch sử yêu cầu và xuất Excel</a:t>
            </a:r>
            <a:endParaRPr lang="en-US" sz="3400" dirty="0"/>
          </a:p>
        </p:txBody>
      </p:sp>
      <p:sp>
        <p:nvSpPr>
          <p:cNvPr id="3" name="Khung ảnh giỏ"/>
          <p:cNvSpPr/>
          <p:nvPr/>
        </p:nvSpPr>
        <p:spPr>
          <a:xfrm>
            <a:off x="512064" y="1335024"/>
            <a:ext cx="5468112" cy="3107817"/>
          </a:xfrm>
          <a:prstGeom prst="rect">
            <a:avLst/>
          </a:prstGeom>
          <a:solidFill>
            <a:srgbClr val="FFFFFF"/>
          </a:solidFill>
          <a:ln w="9525">
            <a:solidFill>
              <a:srgbClr val="D9D4CA"/>
            </a:solidFill>
            <a:prstDash val="solid"/>
          </a:ln>
          <a:effectLst>
            <a:outerShdw sx="100000" sy="100000" kx="0" ky="0" algn="bl" rotWithShape="0" blurRad="127000" dist="38100" dir="5400000">
              <a:srgbClr val="000000">
                <a:alpha val="18000"/>
              </a:srgbClr>
            </a:outerShdw>
          </a:effectLst>
        </p:spPr>
      </p:sp>
      <p:pic>
        <p:nvPicPr>
          <p:cNvPr id="4" name="Ảnh giỏ" descr="C:\Users\ADMIN\AppData\Local\Temp\claude\D--Downloads-Phat-NguyenDang-526000162\875f87fc-f1f4-489a-b3be-9bbc7a956b54\scratchpad\deck/cart.png">    </p:cNvPr>
          <p:cNvPicPr>
            <a:picLocks noChangeAspect="1"/>
          </p:cNvPicPr>
          <p:nvPr/>
        </p:nvPicPr>
        <p:blipFill>
          <a:blip r:embed="rId1"/>
          <a:stretch>
            <a:fillRect/>
          </a:stretch>
        </p:blipFill>
        <p:spPr>
          <a:xfrm>
            <a:off x="548640" y="1371600"/>
            <a:ext cx="5394960" cy="3034665"/>
          </a:xfrm>
          <a:prstGeom prst="rect">
            <a:avLst/>
          </a:prstGeom>
        </p:spPr>
      </p:pic>
      <p:sp>
        <p:nvSpPr>
          <p:cNvPr id="5" name="Khung ảnh lịch sử"/>
          <p:cNvSpPr/>
          <p:nvPr/>
        </p:nvSpPr>
        <p:spPr>
          <a:xfrm>
            <a:off x="6227064" y="1335024"/>
            <a:ext cx="5468112" cy="3107817"/>
          </a:xfrm>
          <a:prstGeom prst="rect">
            <a:avLst/>
          </a:prstGeom>
          <a:solidFill>
            <a:srgbClr val="FFFFFF"/>
          </a:solidFill>
          <a:ln w="9525">
            <a:solidFill>
              <a:srgbClr val="D9D4CA"/>
            </a:solidFill>
            <a:prstDash val="solid"/>
          </a:ln>
          <a:effectLst>
            <a:outerShdw sx="100000" sy="100000" kx="0" ky="0" algn="bl" rotWithShape="0" blurRad="127000" dist="38100" dir="5400000">
              <a:srgbClr val="000000">
                <a:alpha val="18000"/>
              </a:srgbClr>
            </a:outerShdw>
          </a:effectLst>
        </p:spPr>
      </p:sp>
      <p:pic>
        <p:nvPicPr>
          <p:cNvPr id="6" name="Ảnh lịch sử" descr="C:\Users\ADMIN\AppData\Local\Temp\claude\D--Downloads-Phat-NguyenDang-526000162\875f87fc-f1f4-489a-b3be-9bbc7a956b54\scratchpad\deck/history.png">    </p:cNvPr>
          <p:cNvPicPr>
            <a:picLocks noChangeAspect="1"/>
          </p:cNvPicPr>
          <p:nvPr/>
        </p:nvPicPr>
        <p:blipFill>
          <a:blip r:embed="rId2"/>
          <a:stretch>
            <a:fillRect/>
          </a:stretch>
        </p:blipFill>
        <p:spPr>
          <a:xfrm>
            <a:off x="6263640" y="1371600"/>
            <a:ext cx="5394960" cy="3034665"/>
          </a:xfrm>
          <a:prstGeom prst="rect">
            <a:avLst/>
          </a:prstGeom>
        </p:spPr>
      </p:pic>
      <p:sp>
        <p:nvSpPr>
          <p:cNvPr id="7" name="Text 3"/>
          <p:cNvSpPr txBox="1"/>
          <p:nvPr/>
        </p:nvSpPr>
        <p:spPr>
          <a:xfrm>
            <a:off x="548640" y="4589145"/>
            <a:ext cx="5394960" cy="365760"/>
          </a:xfrm>
          <a:prstGeom prst="rect">
            <a:avLst/>
          </a:prstGeom>
          <a:noFill/>
          <a:ln/>
        </p:spPr>
        <p:txBody>
          <a:bodyPr wrap="square" lIns="0" tIns="0" rIns="0" bIns="0" rtlCol="0" anchor="ctr"/>
          <a:lstStyle/>
          <a:p>
            <a:pPr indent="0" marL="0">
              <a:buNone/>
            </a:pPr>
            <a:r>
              <a:rPr lang="en-US" sz="1400" dirty="0">
                <a:solidFill>
                  <a:schemeClr val="accent4"/>
                </a:solidFill>
                <a:latin typeface="Calibri" pitchFamily="34" charset="0"/>
                <a:ea typeface="Calibri" pitchFamily="34" charset="-122"/>
                <a:cs typeface="Calibri" pitchFamily="34" charset="-120"/>
              </a:rPr>
              <a:t>Giỏ báo giá: ngăn kéo bên phải, đổi số lượng, mã giảm giá</a:t>
            </a:r>
            <a:endParaRPr lang="en-US" sz="1400" dirty="0"/>
          </a:p>
        </p:txBody>
      </p:sp>
      <p:sp>
        <p:nvSpPr>
          <p:cNvPr id="8" name="Text 4"/>
          <p:cNvSpPr txBox="1"/>
          <p:nvPr/>
        </p:nvSpPr>
        <p:spPr>
          <a:xfrm>
            <a:off x="6263640" y="4589145"/>
            <a:ext cx="5394960" cy="365760"/>
          </a:xfrm>
          <a:prstGeom prst="rect">
            <a:avLst/>
          </a:prstGeom>
          <a:noFill/>
          <a:ln/>
        </p:spPr>
        <p:txBody>
          <a:bodyPr wrap="square" lIns="0" tIns="0" rIns="0" bIns="0" rtlCol="0" anchor="ctr"/>
          <a:lstStyle/>
          <a:p>
            <a:pPr indent="0" marL="0">
              <a:buNone/>
            </a:pPr>
            <a:r>
              <a:rPr lang="en-US" sz="1400" dirty="0">
                <a:solidFill>
                  <a:schemeClr val="accent4"/>
                </a:solidFill>
                <a:latin typeface="Calibri" pitchFamily="34" charset="0"/>
                <a:ea typeface="Calibri" pitchFamily="34" charset="-122"/>
                <a:cs typeface="Calibri" pitchFamily="34" charset="-120"/>
              </a:rPr>
              <a:t>Lịch sử: trạng thái từng yêu cầu, gửi lại, tải Excel</a:t>
            </a:r>
            <a:endParaRPr lang="en-US" sz="1400" dirty="0"/>
          </a:p>
        </p:txBody>
      </p:sp>
      <p:sp>
        <p:nvSpPr>
          <p:cNvPr id="9" name="Text 5"/>
          <p:cNvSpPr txBox="1"/>
          <p:nvPr/>
        </p:nvSpPr>
        <p:spPr>
          <a:xfrm>
            <a:off x="548640" y="5212080"/>
            <a:ext cx="11064240" cy="1005840"/>
          </a:xfrm>
          <a:prstGeom prst="rect">
            <a:avLst/>
          </a:prstGeom>
          <a:noFill/>
          <a:ln/>
        </p:spPr>
        <p:txBody>
          <a:bodyPr wrap="square" lIns="0" tIns="0" rIns="0" bIns="0" rtlCol="0" anchor="t"/>
          <a:lstStyle/>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Giỏ và yêu thích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lưu trong localStorage, mở lại trang vẫn còn</a:t>
            </a:r>
            <a:endParaRPr lang="en-US" sz="1600" dirty="0"/>
          </a:p>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Nút "Tải Excel"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xuất lịch sử yêu cầu ra file .xlsx có cột tiếng Việt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25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êu đề"/>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Song ngữ Việt · Anh và responsive</a:t>
            </a:r>
            <a:endParaRPr lang="en-US" sz="3400" dirty="0"/>
          </a:p>
        </p:txBody>
      </p:sp>
      <p:sp>
        <p:nvSpPr>
          <p:cNvPr id="3" name="Khung ảnh bản tiếng Anh"/>
          <p:cNvSpPr/>
          <p:nvPr/>
        </p:nvSpPr>
        <p:spPr>
          <a:xfrm>
            <a:off x="512064" y="1335024"/>
            <a:ext cx="5376672" cy="3056382"/>
          </a:xfrm>
          <a:prstGeom prst="rect">
            <a:avLst/>
          </a:prstGeom>
          <a:solidFill>
            <a:srgbClr val="FFFFFF"/>
          </a:solidFill>
          <a:ln w="9525">
            <a:solidFill>
              <a:srgbClr val="D9D4CA"/>
            </a:solidFill>
            <a:prstDash val="solid"/>
          </a:ln>
          <a:effectLst>
            <a:outerShdw sx="100000" sy="100000" kx="0" ky="0" algn="bl" rotWithShape="0" blurRad="127000" dist="38100" dir="5400000">
              <a:srgbClr val="000000">
                <a:alpha val="18000"/>
              </a:srgbClr>
            </a:outerShdw>
          </a:effectLst>
        </p:spPr>
      </p:sp>
      <p:pic>
        <p:nvPicPr>
          <p:cNvPr id="4" name="Ảnh bản tiếng Anh" descr="C:\Users\ADMIN\AppData\Local\Temp\claude\D--Downloads-Phat-NguyenDang-526000162\875f87fc-f1f4-489a-b3be-9bbc7a956b54\scratchpad\deck/home_en.png">    </p:cNvPr>
          <p:cNvPicPr>
            <a:picLocks noChangeAspect="1"/>
          </p:cNvPicPr>
          <p:nvPr/>
        </p:nvPicPr>
        <p:blipFill>
          <a:blip r:embed="rId1"/>
          <a:stretch>
            <a:fillRect/>
          </a:stretch>
        </p:blipFill>
        <p:spPr>
          <a:xfrm>
            <a:off x="548640" y="1371600"/>
            <a:ext cx="5303520" cy="2983230"/>
          </a:xfrm>
          <a:prstGeom prst="rect">
            <a:avLst/>
          </a:prstGeom>
        </p:spPr>
      </p:pic>
      <p:sp>
        <p:nvSpPr>
          <p:cNvPr id="5" name="Khung điện thoại 1"/>
          <p:cNvSpPr/>
          <p:nvPr/>
        </p:nvSpPr>
        <p:spPr>
          <a:xfrm>
            <a:off x="6537960" y="1325880"/>
            <a:ext cx="1645920" cy="3455494"/>
          </a:xfrm>
          <a:prstGeom prst="roundRect">
            <a:avLst>
              <a:gd name="adj" fmla="val 6667"/>
            </a:avLst>
          </a:prstGeom>
          <a:solidFill>
            <a:srgbClr val="1A1714"/>
          </a:solidFill>
          <a:ln w="12700">
            <a:solidFill>
              <a:srgbClr val="1A1714"/>
            </a:solidFill>
            <a:prstDash val="solid"/>
          </a:ln>
          <a:effectLst>
            <a:outerShdw sx="100000" sy="100000" kx="0" ky="0" algn="bl" rotWithShape="0" blurRad="127000" dist="38100" dir="5400000">
              <a:srgbClr val="000000">
                <a:alpha val="18000"/>
              </a:srgbClr>
            </a:outerShdw>
          </a:effectLst>
        </p:spPr>
      </p:sp>
      <p:pic>
        <p:nvPicPr>
          <p:cNvPr id="6" name="Ảnh điện thoại 1" descr="C:\Users\ADMIN\AppData\Local\Temp\claude\D--Downloads-Phat-NguyenDang-526000162\875f87fc-f1f4-489a-b3be-9bbc7a956b54\scratchpad\deck/m_home.png">    </p:cNvPr>
          <p:cNvPicPr>
            <a:picLocks noChangeAspect="1"/>
          </p:cNvPicPr>
          <p:nvPr/>
        </p:nvPicPr>
        <p:blipFill>
          <a:blip r:embed="rId2"/>
          <a:stretch>
            <a:fillRect/>
          </a:stretch>
        </p:blipFill>
        <p:spPr>
          <a:xfrm>
            <a:off x="6583680" y="1371600"/>
            <a:ext cx="1554480" cy="3364054"/>
          </a:xfrm>
          <a:prstGeom prst="rect">
            <a:avLst/>
          </a:prstGeom>
        </p:spPr>
      </p:pic>
      <p:sp>
        <p:nvSpPr>
          <p:cNvPr id="7" name="Khung điện thoại 2"/>
          <p:cNvSpPr/>
          <p:nvPr/>
        </p:nvSpPr>
        <p:spPr>
          <a:xfrm>
            <a:off x="8321040" y="1325880"/>
            <a:ext cx="1645920" cy="3455494"/>
          </a:xfrm>
          <a:prstGeom prst="roundRect">
            <a:avLst>
              <a:gd name="adj" fmla="val 6667"/>
            </a:avLst>
          </a:prstGeom>
          <a:solidFill>
            <a:srgbClr val="1A1714"/>
          </a:solidFill>
          <a:ln w="12700">
            <a:solidFill>
              <a:srgbClr val="1A1714"/>
            </a:solidFill>
            <a:prstDash val="solid"/>
          </a:ln>
          <a:effectLst>
            <a:outerShdw sx="100000" sy="100000" kx="0" ky="0" algn="bl" rotWithShape="0" blurRad="127000" dist="38100" dir="5400000">
              <a:srgbClr val="000000">
                <a:alpha val="18000"/>
              </a:srgbClr>
            </a:outerShdw>
          </a:effectLst>
        </p:spPr>
      </p:sp>
      <p:pic>
        <p:nvPicPr>
          <p:cNvPr id="8" name="Ảnh điện thoại 2" descr="C:\Users\ADMIN\AppData\Local\Temp\claude\D--Downloads-Phat-NguyenDang-526000162\875f87fc-f1f4-489a-b3be-9bbc7a956b54\scratchpad\deck/m_products.png">    </p:cNvPr>
          <p:cNvPicPr>
            <a:picLocks noChangeAspect="1"/>
          </p:cNvPicPr>
          <p:nvPr/>
        </p:nvPicPr>
        <p:blipFill>
          <a:blip r:embed="rId3"/>
          <a:stretch>
            <a:fillRect/>
          </a:stretch>
        </p:blipFill>
        <p:spPr>
          <a:xfrm>
            <a:off x="8366760" y="1371600"/>
            <a:ext cx="1554480" cy="3364054"/>
          </a:xfrm>
          <a:prstGeom prst="rect">
            <a:avLst/>
          </a:prstGeom>
        </p:spPr>
      </p:pic>
      <p:sp>
        <p:nvSpPr>
          <p:cNvPr id="9" name="Khung điện thoại 3"/>
          <p:cNvSpPr/>
          <p:nvPr/>
        </p:nvSpPr>
        <p:spPr>
          <a:xfrm>
            <a:off x="10104120" y="1325880"/>
            <a:ext cx="1645920" cy="3455494"/>
          </a:xfrm>
          <a:prstGeom prst="roundRect">
            <a:avLst>
              <a:gd name="adj" fmla="val 6667"/>
            </a:avLst>
          </a:prstGeom>
          <a:solidFill>
            <a:srgbClr val="1A1714"/>
          </a:solidFill>
          <a:ln w="12700">
            <a:solidFill>
              <a:srgbClr val="1A1714"/>
            </a:solidFill>
            <a:prstDash val="solid"/>
          </a:ln>
          <a:effectLst>
            <a:outerShdw sx="100000" sy="100000" kx="0" ky="0" algn="bl" rotWithShape="0" blurRad="127000" dist="38100" dir="5400000">
              <a:srgbClr val="000000">
                <a:alpha val="18000"/>
              </a:srgbClr>
            </a:outerShdw>
          </a:effectLst>
        </p:spPr>
      </p:sp>
      <p:pic>
        <p:nvPicPr>
          <p:cNvPr id="10" name="Ảnh điện thoại 3" descr="C:\Users\ADMIN\AppData\Local\Temp\claude\D--Downloads-Phat-NguyenDang-526000162\875f87fc-f1f4-489a-b3be-9bbc7a956b54\scratchpad\deck/m_contact.png">    </p:cNvPr>
          <p:cNvPicPr>
            <a:picLocks noChangeAspect="1"/>
          </p:cNvPicPr>
          <p:nvPr/>
        </p:nvPicPr>
        <p:blipFill>
          <a:blip r:embed="rId4"/>
          <a:stretch>
            <a:fillRect/>
          </a:stretch>
        </p:blipFill>
        <p:spPr>
          <a:xfrm>
            <a:off x="10149840" y="1371600"/>
            <a:ext cx="1554480" cy="3364054"/>
          </a:xfrm>
          <a:prstGeom prst="rect">
            <a:avLst/>
          </a:prstGeom>
        </p:spPr>
      </p:pic>
      <p:sp>
        <p:nvSpPr>
          <p:cNvPr id="11" name="Text 5"/>
          <p:cNvSpPr txBox="1"/>
          <p:nvPr/>
        </p:nvSpPr>
        <p:spPr>
          <a:xfrm>
            <a:off x="548640" y="4480560"/>
            <a:ext cx="5486400" cy="320040"/>
          </a:xfrm>
          <a:prstGeom prst="rect">
            <a:avLst/>
          </a:prstGeom>
          <a:noFill/>
          <a:ln/>
        </p:spPr>
        <p:txBody>
          <a:bodyPr wrap="square" lIns="0" tIns="0" rIns="0" bIns="0" rtlCol="0" anchor="ctr"/>
          <a:lstStyle/>
          <a:p>
            <a:pPr indent="0" marL="0">
              <a:buNone/>
            </a:pPr>
            <a:r>
              <a:rPr lang="en-US" sz="1400" dirty="0">
                <a:solidFill>
                  <a:schemeClr val="accent4"/>
                </a:solidFill>
                <a:latin typeface="Calibri" pitchFamily="34" charset="0"/>
                <a:ea typeface="Calibri" pitchFamily="34" charset="-122"/>
                <a:cs typeface="Calibri" pitchFamily="34" charset="-120"/>
              </a:rPr>
              <a:t>Bản tiếng Anh (nút EN) và giao diện điện thoại</a:t>
            </a:r>
            <a:endParaRPr lang="en-US" sz="1400" dirty="0"/>
          </a:p>
        </p:txBody>
      </p:sp>
      <p:sp>
        <p:nvSpPr>
          <p:cNvPr id="12" name="Text 6"/>
          <p:cNvSpPr txBox="1"/>
          <p:nvPr/>
        </p:nvSpPr>
        <p:spPr>
          <a:xfrm>
            <a:off x="548640" y="5074920"/>
            <a:ext cx="11064240" cy="1188720"/>
          </a:xfrm>
          <a:prstGeom prst="rect">
            <a:avLst/>
          </a:prstGeom>
          <a:noFill/>
          <a:ln/>
        </p:spPr>
        <p:txBody>
          <a:bodyPr wrap="square" lIns="0" tIns="0" rIns="0" bIns="0" rtlCol="0" anchor="t"/>
          <a:lstStyle/>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Mặc định tiếng Việt;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đổi sang tiếng Anh một chạm, nhớ lựa chọn</a:t>
            </a:r>
            <a:endParaRPr lang="en-US" sz="1600" dirty="0"/>
          </a:p>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Bố cục lưới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co giãn từ máy tính xuống điện thoại, menu thu gọn</a:t>
            </a:r>
            <a:endParaRPr lang="en-US" sz="1600" dirty="0"/>
          </a:p>
          <a:p>
            <a:pPr marL="342900" indent="-342900">
              <a:spcAft>
                <a:spcPts val="900"/>
              </a:spcAft>
              <a:buSzPct val="100000"/>
              <a:buChar char="•"/>
            </a:pPr>
            <a:r>
              <a:rPr lang="en-US" sz="1600" b="1" dirty="0">
                <a:solidFill>
                  <a:schemeClr val="tx1"/>
                </a:solidFill>
                <a:latin typeface="Calibri" pitchFamily="34" charset="0"/>
                <a:ea typeface="Calibri" pitchFamily="34" charset="-122"/>
                <a:cs typeface="Calibri" pitchFamily="34" charset="-120"/>
              </a:rPr>
              <a:t>Truy cập: </a:t>
            </a:r>
            <a:pPr indent="0" marL="0">
              <a:spcAft>
                <a:spcPts val="900"/>
              </a:spcAft>
              <a:buNone/>
            </a:pPr>
            <a:r>
              <a:rPr lang="en-US" sz="1600" dirty="0">
                <a:solidFill>
                  <a:schemeClr val="tx1"/>
                </a:solidFill>
                <a:latin typeface="Calibri" pitchFamily="34" charset="0"/>
                <a:ea typeface="Calibri" pitchFamily="34" charset="-122"/>
                <a:cs typeface="Calibri" pitchFamily="34" charset="-120"/>
              </a:rPr>
              <a:t>liên kết bỏ qua menu, focus rõ, tôn trọng giảm chuyển động</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25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êu đề"/>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Kỹ thuật áp dụng</a:t>
            </a:r>
            <a:endParaRPr lang="en-US" sz="3400" dirty="0"/>
          </a:p>
        </p:txBody>
      </p:sp>
      <p:sp>
        <p:nvSpPr>
          <p:cNvPr id="3" name="Phụ đề"/>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600" dirty="0">
                <a:solidFill>
                  <a:schemeClr val="accent4"/>
                </a:solidFill>
                <a:latin typeface="Calibri" pitchFamily="34" charset="0"/>
                <a:ea typeface="Calibri" pitchFamily="34" charset="-122"/>
                <a:cs typeface="Calibri" pitchFamily="34" charset="-120"/>
              </a:rPr>
              <a:t>Đối chiếu với yêu cầu của đề</a:t>
            </a:r>
            <a:endParaRPr lang="en-US" sz="1600" dirty="0"/>
          </a:p>
        </p:txBody>
      </p:sp>
      <p:graphicFrame>
        <p:nvGraphicFramePr>
          <p:cNvPr id="12" name="Bảng kỹ thuật"/>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017520"/>
                <a:gridCol w="8046720"/>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Yêu cầu / kỹ thuật</a:t>
                      </a:r>
                      <a:endParaRPr lang="en-US" sz="1500" dirty="0">
                        <a:latin typeface="Calibri" charset="0"/>
                        <a:ea typeface="Calibri" charset="0"/>
                        <a:cs typeface="Calibri" charset="0"/>
                      </a:endParaRPr>
                    </a:p>
                  </a:txBody>
                  <a:tcPr marL="137160" marR="137160" marT="45720" marB="45720"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5B3A1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Cách áp dụng trong dự án</a:t>
                      </a:r>
                      <a:endParaRPr lang="en-US" sz="1500" dirty="0">
                        <a:latin typeface="Calibri" charset="0"/>
                        <a:ea typeface="Calibri" charset="0"/>
                        <a:cs typeface="Calibri" charset="0"/>
                      </a:endParaRPr>
                    </a:p>
                  </a:txBody>
                  <a:tcPr marL="137160" marR="137160" marT="45720" marB="45720"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5B3A1B"/>
                    </a:solidFill>
                  </a:tcPr>
                </a:tc>
              </a:tr>
              <a:tr h="548640">
                <a:tc>
                  <a:txBody>
                    <a:bodyPr/>
                    <a:lstStyle/>
                    <a:p>
                      <a:pPr indent="0" marL="0">
                        <a:buNone/>
                      </a:pPr>
                      <a:r>
                        <a:rPr lang="en-US" sz="1400" b="1" dirty="0">
                          <a:solidFill>
                            <a:srgbClr val="1A1714"/>
                          </a:solidFill>
                          <a:latin typeface="Calibri" pitchFamily="34" charset="0"/>
                          <a:ea typeface="Calibri" pitchFamily="34" charset="-122"/>
                          <a:cs typeface="Calibri" pitchFamily="34" charset="-120"/>
                        </a:rPr>
                        <a:t>HTML5 ngữ nghĩa</a:t>
                      </a:r>
                      <a:endParaRPr lang="en-US" sz="1400" dirty="0">
                        <a:latin typeface="Calibri" charset="0"/>
                        <a:ea typeface="Calibri" charset="0"/>
                        <a:cs typeface="Calibri" charset="0"/>
                      </a:endParaRPr>
                    </a:p>
                  </a:txBody>
                  <a:tcPr marL="137160" marR="137160" marT="45720" marB="45720"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1EEE8"/>
                    </a:solidFill>
                  </a:tcPr>
                </a:tc>
                <a:tc>
                  <a:txBody>
                    <a:bodyPr/>
                    <a:lstStyle/>
                    <a:p>
                      <a:pPr indent="0" marL="0">
                        <a:buNone/>
                      </a:pPr>
                      <a:r>
                        <a:rPr lang="en-US" sz="1400" dirty="0">
                          <a:solidFill>
                            <a:srgbClr val="1A1714"/>
                          </a:solidFill>
                          <a:latin typeface="Calibri" pitchFamily="34" charset="0"/>
                          <a:ea typeface="Calibri" pitchFamily="34" charset="-122"/>
                          <a:cs typeface="Calibri" pitchFamily="34" charset="-120"/>
                        </a:rPr>
                        <a:t>header, nav, main, section, article, figure, dialog; heading theo thứ tự, alt cho mọi ảnh</a:t>
                      </a:r>
                      <a:endParaRPr lang="en-US" sz="1400" dirty="0">
                        <a:latin typeface="Calibri" charset="0"/>
                        <a:ea typeface="Calibri" charset="0"/>
                        <a:cs typeface="Calibri" charset="0"/>
                      </a:endParaRPr>
                    </a:p>
                  </a:txBody>
                  <a:tcPr marL="137160" marR="137160" marT="45720" marB="45720"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A1714"/>
                          </a:solidFill>
                          <a:latin typeface="Calibri" pitchFamily="34" charset="0"/>
                          <a:ea typeface="Calibri" pitchFamily="34" charset="-122"/>
                          <a:cs typeface="Calibri" pitchFamily="34" charset="-120"/>
                        </a:rPr>
                        <a:t>CSS Variables, Flex, Grid</a:t>
                      </a:r>
                      <a:endParaRPr lang="en-US" sz="1400" dirty="0">
                        <a:latin typeface="Calibri" charset="0"/>
                        <a:ea typeface="Calibri" charset="0"/>
                        <a:cs typeface="Calibri" charset="0"/>
                      </a:endParaRPr>
                    </a:p>
                  </a:txBody>
                  <a:tcPr marL="137160" marR="137160" marT="45720" marB="45720"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1EEE8"/>
                    </a:solidFill>
                  </a:tcPr>
                </a:tc>
                <a:tc>
                  <a:txBody>
                    <a:bodyPr/>
                    <a:lstStyle/>
                    <a:p>
                      <a:pPr indent="0" marL="0">
                        <a:buNone/>
                      </a:pPr>
                      <a:r>
                        <a:rPr lang="en-US" sz="1400" dirty="0">
                          <a:solidFill>
                            <a:srgbClr val="1A1714"/>
                          </a:solidFill>
                          <a:latin typeface="Calibri" pitchFamily="34" charset="0"/>
                          <a:ea typeface="Calibri" pitchFamily="34" charset="-122"/>
                          <a:cs typeface="Calibri" pitchFamily="34" charset="-120"/>
                        </a:rPr>
                        <a:t>màu, font, khoảng cách khai báo ở :root; Grid cho lưới sản phẩm, Flex cho thanh menu</a:t>
                      </a:r>
                      <a:endParaRPr lang="en-US" sz="1400" dirty="0">
                        <a:latin typeface="Calibri" charset="0"/>
                        <a:ea typeface="Calibri" charset="0"/>
                        <a:cs typeface="Calibri" charset="0"/>
                      </a:endParaRPr>
                    </a:p>
                  </a:txBody>
                  <a:tcPr marL="137160" marR="137160" marT="45720" marB="45720"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A1714"/>
                          </a:solidFill>
                          <a:latin typeface="Calibri" pitchFamily="34" charset="0"/>
                          <a:ea typeface="Calibri" pitchFamily="34" charset="-122"/>
                          <a:cs typeface="Calibri" pitchFamily="34" charset="-120"/>
                        </a:rPr>
                        <a:t>Animate.css và AOS</a:t>
                      </a:r>
                      <a:endParaRPr lang="en-US" sz="1400" dirty="0">
                        <a:latin typeface="Calibri" charset="0"/>
                        <a:ea typeface="Calibri" charset="0"/>
                        <a:cs typeface="Calibri" charset="0"/>
                      </a:endParaRPr>
                    </a:p>
                  </a:txBody>
                  <a:tcPr marL="137160" marR="137160" marT="45720" marB="45720"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1EEE8"/>
                    </a:solidFill>
                  </a:tcPr>
                </a:tc>
                <a:tc>
                  <a:txBody>
                    <a:bodyPr/>
                    <a:lstStyle/>
                    <a:p>
                      <a:pPr indent="0" marL="0">
                        <a:buNone/>
                      </a:pPr>
                      <a:r>
                        <a:rPr lang="en-US" sz="1400" dirty="0">
                          <a:solidFill>
                            <a:srgbClr val="1A1714"/>
                          </a:solidFill>
                          <a:latin typeface="Calibri" pitchFamily="34" charset="0"/>
                          <a:ea typeface="Calibri" pitchFamily="34" charset="-122"/>
                          <a:cs typeface="Calibri" pitchFamily="34" charset="-120"/>
                        </a:rPr>
                        <a:t>tiêu đề, nút hero hiện lần lượt; các khối cuộn tới thì hiện dần</a:t>
                      </a:r>
                      <a:endParaRPr lang="en-US" sz="1400" dirty="0">
                        <a:latin typeface="Calibri" charset="0"/>
                        <a:ea typeface="Calibri" charset="0"/>
                        <a:cs typeface="Calibri" charset="0"/>
                      </a:endParaRPr>
                    </a:p>
                  </a:txBody>
                  <a:tcPr marL="137160" marR="137160" marT="45720" marB="45720"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A1714"/>
                          </a:solidFill>
                          <a:latin typeface="Calibri" pitchFamily="34" charset="0"/>
                          <a:ea typeface="Calibri" pitchFamily="34" charset="-122"/>
                          <a:cs typeface="Calibri" pitchFamily="34" charset="-120"/>
                        </a:rPr>
                        <a:t>:hover và :focus tự viết</a:t>
                      </a:r>
                      <a:endParaRPr lang="en-US" sz="1400" dirty="0">
                        <a:latin typeface="Calibri" charset="0"/>
                        <a:ea typeface="Calibri" charset="0"/>
                        <a:cs typeface="Calibri" charset="0"/>
                      </a:endParaRPr>
                    </a:p>
                  </a:txBody>
                  <a:tcPr marL="137160" marR="137160" marT="45720" marB="45720"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1EEE8"/>
                    </a:solidFill>
                  </a:tcPr>
                </a:tc>
                <a:tc>
                  <a:txBody>
                    <a:bodyPr/>
                    <a:lstStyle/>
                    <a:p>
                      <a:pPr indent="0" marL="0">
                        <a:buNone/>
                      </a:pPr>
                      <a:r>
                        <a:rPr lang="en-US" sz="1400" dirty="0">
                          <a:solidFill>
                            <a:srgbClr val="1A1714"/>
                          </a:solidFill>
                          <a:latin typeface="Calibri" pitchFamily="34" charset="0"/>
                          <a:ea typeface="Calibri" pitchFamily="34" charset="-122"/>
                          <a:cs typeface="Calibri" pitchFamily="34" charset="-120"/>
                        </a:rPr>
                        <a:t>nút, thẻ, liên kết, ô nhập; :focus-visible cho bàn phím</a:t>
                      </a:r>
                      <a:endParaRPr lang="en-US" sz="1400" dirty="0">
                        <a:latin typeface="Calibri" charset="0"/>
                        <a:ea typeface="Calibri" charset="0"/>
                        <a:cs typeface="Calibri" charset="0"/>
                      </a:endParaRPr>
                    </a:p>
                  </a:txBody>
                  <a:tcPr marL="137160" marR="137160" marT="45720" marB="45720"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A1714"/>
                          </a:solidFill>
                          <a:latin typeface="Calibri" pitchFamily="34" charset="0"/>
                          <a:ea typeface="Calibri" pitchFamily="34" charset="-122"/>
                          <a:cs typeface="Calibri" pitchFamily="34" charset="-120"/>
                        </a:rPr>
                        <a:t>JavaScript và DOM</a:t>
                      </a:r>
                      <a:endParaRPr lang="en-US" sz="1400" dirty="0">
                        <a:latin typeface="Calibri" charset="0"/>
                        <a:ea typeface="Calibri" charset="0"/>
                        <a:cs typeface="Calibri" charset="0"/>
                      </a:endParaRPr>
                    </a:p>
                  </a:txBody>
                  <a:tcPr marL="137160" marR="137160" marT="45720" marB="45720"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1EEE8"/>
                    </a:solidFill>
                  </a:tcPr>
                </a:tc>
                <a:tc>
                  <a:txBody>
                    <a:bodyPr/>
                    <a:lstStyle/>
                    <a:p>
                      <a:pPr indent="0" marL="0">
                        <a:buNone/>
                      </a:pPr>
                      <a:r>
                        <a:rPr lang="en-US" sz="1400" dirty="0">
                          <a:solidFill>
                            <a:srgbClr val="1A1714"/>
                          </a:solidFill>
                          <a:latin typeface="Calibri" pitchFamily="34" charset="0"/>
                          <a:ea typeface="Calibri" pitchFamily="34" charset="-122"/>
                          <a:cs typeface="Calibri" pitchFamily="34" charset="-120"/>
                        </a:rPr>
                        <a:t>giỏ hàng, lọc, tìm không dấu, hộp thoại, kiểm tra biểu mẫu, localStorage</a:t>
                      </a:r>
                      <a:endParaRPr lang="en-US" sz="1400" dirty="0">
                        <a:latin typeface="Calibri" charset="0"/>
                        <a:ea typeface="Calibri" charset="0"/>
                        <a:cs typeface="Calibri" charset="0"/>
                      </a:endParaRPr>
                    </a:p>
                  </a:txBody>
                  <a:tcPr marL="137160" marR="137160" marT="45720" marB="45720"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A1714"/>
                          </a:solidFill>
                          <a:latin typeface="Calibri" pitchFamily="34" charset="0"/>
                          <a:ea typeface="Calibri" pitchFamily="34" charset="-122"/>
                          <a:cs typeface="Calibri" pitchFamily="34" charset="-120"/>
                        </a:rPr>
                        <a:t>Dữ liệu JSON</a:t>
                      </a:r>
                      <a:endParaRPr lang="en-US" sz="1400" dirty="0">
                        <a:latin typeface="Calibri" charset="0"/>
                        <a:ea typeface="Calibri" charset="0"/>
                        <a:cs typeface="Calibri" charset="0"/>
                      </a:endParaRPr>
                    </a:p>
                  </a:txBody>
                  <a:tcPr marL="137160" marR="137160" marT="45720" marB="45720"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1EEE8"/>
                    </a:solidFill>
                  </a:tcPr>
                </a:tc>
                <a:tc>
                  <a:txBody>
                    <a:bodyPr/>
                    <a:lstStyle/>
                    <a:p>
                      <a:pPr indent="0" marL="0">
                        <a:buNone/>
                      </a:pPr>
                      <a:r>
                        <a:rPr lang="en-US" sz="1400" dirty="0">
                          <a:solidFill>
                            <a:srgbClr val="1A1714"/>
                          </a:solidFill>
                          <a:latin typeface="Calibri" pitchFamily="34" charset="0"/>
                          <a:ea typeface="Calibri" pitchFamily="34" charset="-122"/>
                          <a:cs typeface="Calibri" pitchFamily="34" charset="-120"/>
                        </a:rPr>
                        <a:t>bảng sản phẩm, bảng giá, chuỗi giao diện, cấu hình; hàm tính giá thuần</a:t>
                      </a:r>
                      <a:endParaRPr lang="en-US" sz="1400" dirty="0">
                        <a:latin typeface="Calibri" charset="0"/>
                        <a:ea typeface="Calibri" charset="0"/>
                        <a:cs typeface="Calibri" charset="0"/>
                      </a:endParaRPr>
                    </a:p>
                  </a:txBody>
                  <a:tcPr marL="137160" marR="137160" marT="45720" marB="45720"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A1714"/>
                          </a:solidFill>
                          <a:latin typeface="Calibri" pitchFamily="34" charset="0"/>
                          <a:ea typeface="Calibri" pitchFamily="34" charset="-122"/>
                          <a:cs typeface="Calibri" pitchFamily="34" charset="-120"/>
                        </a:rPr>
                        <a:t>Git và triển khai</a:t>
                      </a:r>
                      <a:endParaRPr lang="en-US" sz="1400" dirty="0">
                        <a:latin typeface="Calibri" charset="0"/>
                        <a:ea typeface="Calibri" charset="0"/>
                        <a:cs typeface="Calibri" charset="0"/>
                      </a:endParaRPr>
                    </a:p>
                  </a:txBody>
                  <a:tcPr marL="137160" marR="137160" marT="45720" marB="45720"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1EEE8"/>
                    </a:solidFill>
                  </a:tcPr>
                </a:tc>
                <a:tc>
                  <a:txBody>
                    <a:bodyPr/>
                    <a:lstStyle/>
                    <a:p>
                      <a:pPr indent="0" marL="0">
                        <a:buNone/>
                      </a:pPr>
                      <a:r>
                        <a:rPr lang="en-US" sz="1400" dirty="0">
                          <a:solidFill>
                            <a:srgbClr val="1A1714"/>
                          </a:solidFill>
                          <a:latin typeface="Calibri" pitchFamily="34" charset="0"/>
                          <a:ea typeface="Calibri" pitchFamily="34" charset="-122"/>
                          <a:cs typeface="Calibri" pitchFamily="34" charset="-120"/>
                        </a:rPr>
                        <a:t>commit nhỏ bằng tiếng Việt; GitHub Actions tự deploy lên GitHub Pages</a:t>
                      </a:r>
                      <a:endParaRPr lang="en-US" sz="1400" dirty="0">
                        <a:latin typeface="Calibri" charset="0"/>
                        <a:ea typeface="Calibri" charset="0"/>
                        <a:cs typeface="Calibri" charset="0"/>
                      </a:endParaRPr>
                    </a:p>
                  </a:txBody>
                  <a:tcPr marL="137160" marR="137160" marT="45720" marB="45720"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25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êu đề"/>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Cấu trúc dự án</a:t>
            </a:r>
            <a:endParaRPr lang="en-US" sz="3400" dirty="0"/>
          </a:p>
        </p:txBody>
      </p:sp>
      <p:sp>
        <p:nvSpPr>
          <p:cNvPr id="3" name="Thẻ"/>
          <p:cNvSpPr/>
          <p:nvPr/>
        </p:nvSpPr>
        <p:spPr>
          <a:xfrm>
            <a:off x="548640" y="1371600"/>
            <a:ext cx="4480560" cy="4754880"/>
          </a:xfrm>
          <a:prstGeom prst="roundRect">
            <a:avLst>
              <a:gd name="adj" fmla="val 2449"/>
            </a:avLst>
          </a:prstGeom>
          <a:solidFill>
            <a:srgbClr val="1A1714"/>
          </a:solidFill>
          <a:ln w="12700">
            <a:solidFill>
              <a:srgbClr val="1A1714"/>
            </a:solidFill>
            <a:prstDash val="solid"/>
          </a:ln>
        </p:spPr>
      </p:sp>
      <p:sp>
        <p:nvSpPr>
          <p:cNvPr id="4" name="Cây thư mục"/>
          <p:cNvSpPr txBox="1"/>
          <p:nvPr/>
        </p:nvSpPr>
        <p:spPr>
          <a:xfrm>
            <a:off x="777240" y="1508760"/>
            <a:ext cx="4114800" cy="4480560"/>
          </a:xfrm>
          <a:prstGeom prst="rect">
            <a:avLst/>
          </a:prstGeom>
          <a:noFill/>
          <a:ln/>
        </p:spPr>
        <p:txBody>
          <a:bodyPr wrap="square" lIns="0" tIns="0" rIns="0" bIns="0" rtlCol="0" anchor="t"/>
          <a:lstStyle/>
          <a:p>
            <a:pPr indent="0" marL="0">
              <a:spcAft>
                <a:spcPts val="200"/>
              </a:spcAft>
              <a:buNone/>
            </a:pPr>
            <a:r>
              <a:rPr lang="en-US" sz="1300" dirty="0">
                <a:solidFill>
                  <a:srgbClr val="D9C7AE"/>
                </a:solidFill>
                <a:latin typeface="Courier New" pitchFamily="34" charset="0"/>
                <a:ea typeface="Courier New" pitchFamily="34" charset="-122"/>
                <a:cs typeface="Courier New" pitchFamily="34" charset="-120"/>
              </a:rPr>
              <a:t>index.html  products.html</a:t>
            </a:r>
            <a:endParaRPr lang="en-US" sz="1300" dirty="0"/>
          </a:p>
          <a:p>
            <a:pPr indent="0" marL="0">
              <a:spcAft>
                <a:spcPts val="200"/>
              </a:spcAft>
              <a:buNone/>
            </a:pPr>
            <a:r>
              <a:rPr lang="en-US" sz="1300" dirty="0">
                <a:solidFill>
                  <a:srgbClr val="D9C7AE"/>
                </a:solidFill>
                <a:latin typeface="Courier New" pitchFamily="34" charset="0"/>
                <a:ea typeface="Courier New" pitchFamily="34" charset="-122"/>
                <a:cs typeface="Courier New" pitchFamily="34" charset="-120"/>
              </a:rPr>
              <a:t>estimator.html  contact.html</a:t>
            </a:r>
            <a:endParaRPr lang="en-US" sz="1300" dirty="0"/>
          </a:p>
          <a:p>
            <a:pPr indent="0" marL="0">
              <a:spcAft>
                <a:spcPts val="200"/>
              </a:spcAft>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indent="0" marL="0">
              <a:spcAft>
                <a:spcPts val="200"/>
              </a:spcAft>
              <a:buNone/>
            </a:pPr>
            <a:r>
              <a:rPr lang="en-US" sz="1300" dirty="0">
                <a:solidFill>
                  <a:srgbClr val="FFFFFF"/>
                </a:solidFill>
                <a:latin typeface="Courier New" pitchFamily="34" charset="0"/>
                <a:ea typeface="Courier New" pitchFamily="34" charset="-122"/>
                <a:cs typeface="Courier New" pitchFamily="34" charset="-120"/>
              </a:rPr>
              <a:t>css/</a:t>
            </a:r>
            <a:endParaRPr lang="en-US" sz="1300" dirty="0"/>
          </a:p>
          <a:p>
            <a:pPr indent="0" marL="0">
              <a:spcAft>
                <a:spcPts val="200"/>
              </a:spcAft>
              <a:buNone/>
            </a:pPr>
            <a:r>
              <a:rPr lang="en-US" sz="1300" dirty="0">
                <a:solidFill>
                  <a:srgbClr val="F1EEE8"/>
                </a:solidFill>
                <a:latin typeface="Courier New" pitchFamily="34" charset="0"/>
                <a:ea typeface="Courier New" pitchFamily="34" charset="-122"/>
                <a:cs typeface="Courier New" pitchFamily="34" charset="-120"/>
              </a:rPr>
              <a:t>  style.css  features.css  landing.css</a:t>
            </a:r>
            <a:endParaRPr lang="en-US" sz="1300" dirty="0"/>
          </a:p>
          <a:p>
            <a:pPr indent="0" marL="0">
              <a:spcAft>
                <a:spcPts val="200"/>
              </a:spcAft>
              <a:buNone/>
            </a:pPr>
            <a:r>
              <a:rPr lang="en-US" sz="1300" dirty="0">
                <a:solidFill>
                  <a:srgbClr val="FFFFFF"/>
                </a:solidFill>
                <a:latin typeface="Courier New" pitchFamily="34" charset="0"/>
                <a:ea typeface="Courier New" pitchFamily="34" charset="-122"/>
                <a:cs typeface="Courier New" pitchFamily="34" charset="-120"/>
              </a:rPr>
              <a:t>js/</a:t>
            </a:r>
            <a:endParaRPr lang="en-US" sz="1300" dirty="0"/>
          </a:p>
          <a:p>
            <a:pPr indent="0" marL="0">
              <a:spcAft>
                <a:spcPts val="200"/>
              </a:spcAft>
              <a:buNone/>
            </a:pPr>
            <a:r>
              <a:rPr lang="en-US" sz="1300" dirty="0">
                <a:solidFill>
                  <a:srgbClr val="F1EEE8"/>
                </a:solidFill>
                <a:latin typeface="Courier New" pitchFamily="34" charset="0"/>
                <a:ea typeface="Courier New" pitchFamily="34" charset="-122"/>
                <a:cs typeface="Courier New" pitchFamily="34" charset="-120"/>
              </a:rPr>
              <a:t>  api  store  lang  ui</a:t>
            </a:r>
            <a:endParaRPr lang="en-US" sz="1300" dirty="0"/>
          </a:p>
          <a:p>
            <a:pPr indent="0" marL="0">
              <a:spcAft>
                <a:spcPts val="200"/>
              </a:spcAft>
              <a:buNone/>
            </a:pPr>
            <a:r>
              <a:rPr lang="en-US" sz="1300" dirty="0">
                <a:solidFill>
                  <a:srgbClr val="F1EEE8"/>
                </a:solidFill>
                <a:latin typeface="Courier New" pitchFamily="34" charset="0"/>
                <a:ea typeface="Courier New" pitchFamily="34" charset="-122"/>
                <a:cs typeface="Courier New" pitchFamily="34" charset="-120"/>
              </a:rPr>
              <a:t>  pricing  filters  validation</a:t>
            </a:r>
            <a:endParaRPr lang="en-US" sz="1300" dirty="0"/>
          </a:p>
          <a:p>
            <a:pPr indent="0" marL="0">
              <a:spcAft>
                <a:spcPts val="200"/>
              </a:spcAft>
              <a:buNone/>
            </a:pPr>
            <a:r>
              <a:rPr lang="en-US" sz="1300" dirty="0">
                <a:solidFill>
                  <a:srgbClr val="F1EEE8"/>
                </a:solidFill>
                <a:latin typeface="Courier New" pitchFamily="34" charset="0"/>
                <a:ea typeface="Courier New" pitchFamily="34" charset="-122"/>
                <a:cs typeface="Courier New" pitchFamily="34" charset="-120"/>
              </a:rPr>
              <a:t>  cart  quotes  sheet  success</a:t>
            </a:r>
            <a:endParaRPr lang="en-US" sz="1300" dirty="0"/>
          </a:p>
          <a:p>
            <a:pPr indent="0" marL="0">
              <a:spcAft>
                <a:spcPts val="200"/>
              </a:spcAft>
              <a:buNone/>
            </a:pPr>
            <a:r>
              <a:rPr lang="en-US" sz="1300" dirty="0">
                <a:solidFill>
                  <a:srgbClr val="F1EEE8"/>
                </a:solidFill>
                <a:latin typeface="Courier New" pitchFamily="34" charset="0"/>
                <a:ea typeface="Courier New" pitchFamily="34" charset="-122"/>
                <a:cs typeface="Courier New" pitchFamily="34" charset="-120"/>
              </a:rPr>
              <a:t>  catalog  estimator  history</a:t>
            </a:r>
            <a:endParaRPr lang="en-US" sz="1300" dirty="0"/>
          </a:p>
          <a:p>
            <a:pPr indent="0" marL="0">
              <a:spcAft>
                <a:spcPts val="200"/>
              </a:spcAft>
              <a:buNone/>
            </a:pPr>
            <a:r>
              <a:rPr lang="en-US" sz="1300" dirty="0">
                <a:solidFill>
                  <a:srgbClr val="F1EEE8"/>
                </a:solidFill>
                <a:latin typeface="Courier New" pitchFamily="34" charset="0"/>
                <a:ea typeface="Courier New" pitchFamily="34" charset="-122"/>
                <a:cs typeface="Courier New" pitchFamily="34" charset="-120"/>
              </a:rPr>
              <a:t>  quote-form  main  site</a:t>
            </a:r>
            <a:endParaRPr lang="en-US" sz="1300" dirty="0"/>
          </a:p>
          <a:p>
            <a:pPr indent="0" marL="0">
              <a:spcAft>
                <a:spcPts val="200"/>
              </a:spcAft>
              <a:buNone/>
            </a:pPr>
            <a:r>
              <a:rPr lang="en-US" sz="1300" dirty="0">
                <a:solidFill>
                  <a:srgbClr val="FFFFFF"/>
                </a:solidFill>
                <a:latin typeface="Courier New" pitchFamily="34" charset="0"/>
                <a:ea typeface="Courier New" pitchFamily="34" charset="-122"/>
                <a:cs typeface="Courier New" pitchFamily="34" charset="-120"/>
              </a:rPr>
              <a:t>data/</a:t>
            </a:r>
            <a:endParaRPr lang="en-US" sz="1300" dirty="0"/>
          </a:p>
          <a:p>
            <a:pPr indent="0" marL="0">
              <a:spcAft>
                <a:spcPts val="200"/>
              </a:spcAft>
              <a:buNone/>
            </a:pPr>
            <a:r>
              <a:rPr lang="en-US" sz="1300" dirty="0">
                <a:solidFill>
                  <a:srgbClr val="F1EEE8"/>
                </a:solidFill>
                <a:latin typeface="Courier New" pitchFamily="34" charset="0"/>
                <a:ea typeface="Courier New" pitchFamily="34" charset="-122"/>
                <a:cs typeface="Courier New" pitchFamily="34" charset="-120"/>
              </a:rPr>
              <a:t>  products  pricing  ui  config</a:t>
            </a:r>
            <a:endParaRPr lang="en-US" sz="1300" dirty="0"/>
          </a:p>
          <a:p>
            <a:pPr indent="0" marL="0">
              <a:spcAft>
                <a:spcPts val="200"/>
              </a:spcAft>
              <a:buNone/>
            </a:pPr>
            <a:r>
              <a:rPr lang="en-US" sz="1300" dirty="0">
                <a:solidFill>
                  <a:srgbClr val="D9C7AE"/>
                </a:solidFill>
                <a:latin typeface="Courier New" pitchFamily="34" charset="0"/>
                <a:ea typeface="Courier New" pitchFamily="34" charset="-122"/>
                <a:cs typeface="Courier New" pitchFamily="34" charset="-120"/>
              </a:rPr>
              <a:t>apps-script/Code.gs</a:t>
            </a:r>
            <a:endParaRPr lang="en-US" sz="1300" dirty="0"/>
          </a:p>
          <a:p>
            <a:pPr indent="0" marL="0">
              <a:spcAft>
                <a:spcPts val="200"/>
              </a:spcAft>
              <a:buNone/>
            </a:pPr>
            <a:r>
              <a:rPr lang="en-US" sz="1300" dirty="0">
                <a:solidFill>
                  <a:srgbClr val="D9C7AE"/>
                </a:solidFill>
                <a:latin typeface="Courier New" pitchFamily="34" charset="0"/>
                <a:ea typeface="Courier New" pitchFamily="34" charset="-122"/>
                <a:cs typeface="Courier New" pitchFamily="34" charset="-120"/>
              </a:rPr>
              <a:t>.github/workflows/deploy.yml</a:t>
            </a:r>
            <a:endParaRPr lang="en-US" sz="1300" dirty="0"/>
          </a:p>
          <a:p>
            <a:pPr indent="0" marL="0">
              <a:spcAft>
                <a:spcPts val="200"/>
              </a:spcAft>
              <a:buNone/>
            </a:pPr>
            <a:r>
              <a:rPr lang="en-US" sz="1300" dirty="0">
                <a:solidFill>
                  <a:srgbClr val="D9C7AE"/>
                </a:solidFill>
                <a:latin typeface="Courier New" pitchFamily="34" charset="0"/>
                <a:ea typeface="Courier New" pitchFamily="34" charset="-122"/>
                <a:cs typeface="Courier New" pitchFamily="34" charset="-120"/>
              </a:rPr>
              <a:t>PROMPT_LOG.md  README.md</a:t>
            </a:r>
            <a:endParaRPr lang="en-US" sz="1300" dirty="0"/>
          </a:p>
        </p:txBody>
      </p:sp>
      <p:sp>
        <p:nvSpPr>
          <p:cNvPr id="5" name="Thẻ"/>
          <p:cNvSpPr/>
          <p:nvPr/>
        </p:nvSpPr>
        <p:spPr>
          <a:xfrm>
            <a:off x="5577840" y="1371600"/>
            <a:ext cx="3840480" cy="868680"/>
          </a:xfrm>
          <a:prstGeom prst="roundRect">
            <a:avLst>
              <a:gd name="adj" fmla="val 12632"/>
            </a:avLst>
          </a:prstGeom>
          <a:solidFill>
            <a:srgbClr val="F1EEE8"/>
          </a:solidFill>
          <a:ln w="12700">
            <a:solidFill>
              <a:srgbClr val="F1EEE8"/>
            </a:solidFill>
            <a:prstDash val="solid"/>
          </a:ln>
        </p:spPr>
      </p:sp>
      <p:sp>
        <p:nvSpPr>
          <p:cNvPr id="6" name="Text 4"/>
          <p:cNvSpPr txBox="1"/>
          <p:nvPr/>
        </p:nvSpPr>
        <p:spPr>
          <a:xfrm>
            <a:off x="5760720" y="1371600"/>
            <a:ext cx="3474720" cy="8686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Bảng dữ liệu</a:t>
            </a:r>
            <a:endParaRPr lang="en-US" sz="1600" dirty="0"/>
          </a:p>
          <a:p>
            <a:pPr indent="0" marL="0">
              <a:buNone/>
            </a:pPr>
            <a:r>
              <a:rPr lang="en-US" sz="1300" dirty="0">
                <a:solidFill>
                  <a:srgbClr val="6B6258"/>
                </a:solidFill>
                <a:latin typeface="Calibri" pitchFamily="34" charset="0"/>
                <a:ea typeface="Calibri" pitchFamily="34" charset="-122"/>
                <a:cs typeface="Calibri" pitchFamily="34" charset="-120"/>
              </a:rPr>
              <a:t>data/*.js (JSON)</a:t>
            </a:r>
            <a:endParaRPr lang="en-US" sz="1600" dirty="0"/>
          </a:p>
        </p:txBody>
      </p:sp>
      <p:sp>
        <p:nvSpPr>
          <p:cNvPr id="7" name="Text 5"/>
          <p:cNvSpPr txBox="1"/>
          <p:nvPr/>
        </p:nvSpPr>
        <p:spPr>
          <a:xfrm>
            <a:off x="7269480" y="2258568"/>
            <a:ext cx="457200" cy="237744"/>
          </a:xfrm>
          <a:prstGeom prst="rect">
            <a:avLst/>
          </a:prstGeom>
          <a:noFill/>
          <a:ln/>
        </p:spPr>
        <p:txBody>
          <a:bodyPr wrap="square" lIns="0" tIns="0" rIns="0" bIns="0" rtlCol="0" anchor="ctr"/>
          <a:lstStyle/>
          <a:p>
            <a:pPr algn="ctr" indent="0" marL="0">
              <a:buNone/>
            </a:pPr>
            <a:r>
              <a:rPr lang="en-US" sz="1200" dirty="0">
                <a:solidFill>
                  <a:srgbClr val="8B5A2B"/>
                </a:solidFill>
                <a:latin typeface="Calibri" pitchFamily="34" charset="0"/>
                <a:ea typeface="Calibri" pitchFamily="34" charset="-122"/>
                <a:cs typeface="Calibri" pitchFamily="34" charset="-120"/>
              </a:rPr>
              <a:t>▼</a:t>
            </a:r>
            <a:endParaRPr lang="en-US" sz="1200" dirty="0"/>
          </a:p>
        </p:txBody>
      </p:sp>
      <p:sp>
        <p:nvSpPr>
          <p:cNvPr id="8" name="Thẻ"/>
          <p:cNvSpPr/>
          <p:nvPr/>
        </p:nvSpPr>
        <p:spPr>
          <a:xfrm>
            <a:off x="5577840" y="2514600"/>
            <a:ext cx="3840480" cy="868680"/>
          </a:xfrm>
          <a:prstGeom prst="roundRect">
            <a:avLst>
              <a:gd name="adj" fmla="val 12632"/>
            </a:avLst>
          </a:prstGeom>
          <a:solidFill>
            <a:srgbClr val="F1EEE8"/>
          </a:solidFill>
          <a:ln w="12700">
            <a:solidFill>
              <a:srgbClr val="F1EEE8"/>
            </a:solidFill>
            <a:prstDash val="solid"/>
          </a:ln>
        </p:spPr>
      </p:sp>
      <p:sp>
        <p:nvSpPr>
          <p:cNvPr id="9" name="Text 7"/>
          <p:cNvSpPr txBox="1"/>
          <p:nvPr/>
        </p:nvSpPr>
        <p:spPr>
          <a:xfrm>
            <a:off x="5760720" y="2514600"/>
            <a:ext cx="3474720" cy="8686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api.js</a:t>
            </a:r>
            <a:endParaRPr lang="en-US" sz="1600" dirty="0"/>
          </a:p>
          <a:p>
            <a:pPr indent="0" marL="0">
              <a:buNone/>
            </a:pPr>
            <a:r>
              <a:rPr lang="en-US" sz="1300" dirty="0">
                <a:solidFill>
                  <a:srgbClr val="6B6258"/>
                </a:solidFill>
                <a:latin typeface="Calibri" pitchFamily="34" charset="0"/>
                <a:ea typeface="Calibri" pitchFamily="34" charset="-122"/>
                <a:cs typeface="Calibri" pitchFamily="34" charset="-120"/>
              </a:rPr>
              <a:t>đọc dữ liệu</a:t>
            </a:r>
            <a:endParaRPr lang="en-US" sz="1600" dirty="0"/>
          </a:p>
        </p:txBody>
      </p:sp>
      <p:sp>
        <p:nvSpPr>
          <p:cNvPr id="10" name="Text 8"/>
          <p:cNvSpPr txBox="1"/>
          <p:nvPr/>
        </p:nvSpPr>
        <p:spPr>
          <a:xfrm>
            <a:off x="7269480" y="3401568"/>
            <a:ext cx="457200" cy="237744"/>
          </a:xfrm>
          <a:prstGeom prst="rect">
            <a:avLst/>
          </a:prstGeom>
          <a:noFill/>
          <a:ln/>
        </p:spPr>
        <p:txBody>
          <a:bodyPr wrap="square" lIns="0" tIns="0" rIns="0" bIns="0" rtlCol="0" anchor="ctr"/>
          <a:lstStyle/>
          <a:p>
            <a:pPr algn="ctr" indent="0" marL="0">
              <a:buNone/>
            </a:pPr>
            <a:r>
              <a:rPr lang="en-US" sz="1200" dirty="0">
                <a:solidFill>
                  <a:srgbClr val="8B5A2B"/>
                </a:solidFill>
                <a:latin typeface="Calibri" pitchFamily="34" charset="0"/>
                <a:ea typeface="Calibri" pitchFamily="34" charset="-122"/>
                <a:cs typeface="Calibri" pitchFamily="34" charset="-120"/>
              </a:rPr>
              <a:t>▼</a:t>
            </a:r>
            <a:endParaRPr lang="en-US" sz="1200" dirty="0"/>
          </a:p>
        </p:txBody>
      </p:sp>
      <p:sp>
        <p:nvSpPr>
          <p:cNvPr id="11" name="Thẻ"/>
          <p:cNvSpPr/>
          <p:nvPr/>
        </p:nvSpPr>
        <p:spPr>
          <a:xfrm>
            <a:off x="5577840" y="3657600"/>
            <a:ext cx="3840480" cy="868680"/>
          </a:xfrm>
          <a:prstGeom prst="roundRect">
            <a:avLst>
              <a:gd name="adj" fmla="val 12632"/>
            </a:avLst>
          </a:prstGeom>
          <a:solidFill>
            <a:srgbClr val="F1EEE8"/>
          </a:solidFill>
          <a:ln w="12700">
            <a:solidFill>
              <a:srgbClr val="F1EEE8"/>
            </a:solidFill>
            <a:prstDash val="solid"/>
          </a:ln>
        </p:spPr>
      </p:sp>
      <p:sp>
        <p:nvSpPr>
          <p:cNvPr id="12" name="Text 10"/>
          <p:cNvSpPr txBox="1"/>
          <p:nvPr/>
        </p:nvSpPr>
        <p:spPr>
          <a:xfrm>
            <a:off x="5760720" y="3657600"/>
            <a:ext cx="3474720" cy="8686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Mô-đun xử lý</a:t>
            </a:r>
            <a:endParaRPr lang="en-US" sz="1600" dirty="0"/>
          </a:p>
          <a:p>
            <a:pPr indent="0" marL="0">
              <a:buNone/>
            </a:pPr>
            <a:r>
              <a:rPr lang="en-US" sz="1300" dirty="0">
                <a:solidFill>
                  <a:srgbClr val="6B6258"/>
                </a:solidFill>
                <a:latin typeface="Calibri" pitchFamily="34" charset="0"/>
                <a:ea typeface="Calibri" pitchFamily="34" charset="-122"/>
                <a:cs typeface="Calibri" pitchFamily="34" charset="-120"/>
              </a:rPr>
              <a:t>pricing · filters · validation · cart</a:t>
            </a:r>
            <a:endParaRPr lang="en-US" sz="1600" dirty="0"/>
          </a:p>
        </p:txBody>
      </p:sp>
      <p:sp>
        <p:nvSpPr>
          <p:cNvPr id="13" name="Text 11"/>
          <p:cNvSpPr txBox="1"/>
          <p:nvPr/>
        </p:nvSpPr>
        <p:spPr>
          <a:xfrm>
            <a:off x="7269480" y="4544568"/>
            <a:ext cx="457200" cy="237744"/>
          </a:xfrm>
          <a:prstGeom prst="rect">
            <a:avLst/>
          </a:prstGeom>
          <a:noFill/>
          <a:ln/>
        </p:spPr>
        <p:txBody>
          <a:bodyPr wrap="square" lIns="0" tIns="0" rIns="0" bIns="0" rtlCol="0" anchor="ctr"/>
          <a:lstStyle/>
          <a:p>
            <a:pPr algn="ctr" indent="0" marL="0">
              <a:buNone/>
            </a:pPr>
            <a:r>
              <a:rPr lang="en-US" sz="1200" dirty="0">
                <a:solidFill>
                  <a:srgbClr val="8B5A2B"/>
                </a:solidFill>
                <a:latin typeface="Calibri" pitchFamily="34" charset="0"/>
                <a:ea typeface="Calibri" pitchFamily="34" charset="-122"/>
                <a:cs typeface="Calibri" pitchFamily="34" charset="-120"/>
              </a:rPr>
              <a:t>▼</a:t>
            </a:r>
            <a:endParaRPr lang="en-US" sz="1200" dirty="0"/>
          </a:p>
        </p:txBody>
      </p:sp>
      <p:sp>
        <p:nvSpPr>
          <p:cNvPr id="14" name="Thẻ"/>
          <p:cNvSpPr/>
          <p:nvPr/>
        </p:nvSpPr>
        <p:spPr>
          <a:xfrm>
            <a:off x="5577840" y="4800600"/>
            <a:ext cx="3840480" cy="868680"/>
          </a:xfrm>
          <a:prstGeom prst="roundRect">
            <a:avLst>
              <a:gd name="adj" fmla="val 12632"/>
            </a:avLst>
          </a:prstGeom>
          <a:solidFill>
            <a:srgbClr val="F1EEE8"/>
          </a:solidFill>
          <a:ln w="12700">
            <a:solidFill>
              <a:srgbClr val="F1EEE8"/>
            </a:solidFill>
            <a:prstDash val="solid"/>
          </a:ln>
        </p:spPr>
      </p:sp>
      <p:sp>
        <p:nvSpPr>
          <p:cNvPr id="15" name="Text 13"/>
          <p:cNvSpPr txBox="1"/>
          <p:nvPr/>
        </p:nvSpPr>
        <p:spPr>
          <a:xfrm>
            <a:off x="5760720" y="4800600"/>
            <a:ext cx="3474720" cy="8686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Giao diện</a:t>
            </a:r>
            <a:endParaRPr lang="en-US" sz="1600" dirty="0"/>
          </a:p>
          <a:p>
            <a:pPr indent="0" marL="0">
              <a:buNone/>
            </a:pPr>
            <a:r>
              <a:rPr lang="en-US" sz="1300" dirty="0">
                <a:solidFill>
                  <a:srgbClr val="6B6258"/>
                </a:solidFill>
                <a:latin typeface="Calibri" pitchFamily="34" charset="0"/>
                <a:ea typeface="Calibri" pitchFamily="34" charset="-122"/>
                <a:cs typeface="Calibri" pitchFamily="34" charset="-120"/>
              </a:rPr>
              <a:t>catalog · estimator · quote-form · history</a:t>
            </a:r>
            <a:endParaRPr lang="en-US" sz="1600" dirty="0"/>
          </a:p>
        </p:txBody>
      </p:sp>
      <p:sp>
        <p:nvSpPr>
          <p:cNvPr id="16" name="Text 14"/>
          <p:cNvSpPr txBox="1"/>
          <p:nvPr/>
        </p:nvSpPr>
        <p:spPr>
          <a:xfrm>
            <a:off x="7269480" y="5687568"/>
            <a:ext cx="457200" cy="237744"/>
          </a:xfrm>
          <a:prstGeom prst="rect">
            <a:avLst/>
          </a:prstGeom>
          <a:noFill/>
          <a:ln/>
        </p:spPr>
        <p:txBody>
          <a:bodyPr wrap="square" lIns="0" tIns="0" rIns="0" bIns="0" rtlCol="0" anchor="ctr"/>
          <a:lstStyle/>
          <a:p>
            <a:pPr algn="ctr" indent="0" marL="0">
              <a:buNone/>
            </a:pPr>
            <a:r>
              <a:rPr lang="en-US" sz="1200" dirty="0">
                <a:solidFill>
                  <a:srgbClr val="8B5A2B"/>
                </a:solidFill>
                <a:latin typeface="Calibri" pitchFamily="34" charset="0"/>
                <a:ea typeface="Calibri" pitchFamily="34" charset="-122"/>
                <a:cs typeface="Calibri" pitchFamily="34" charset="-120"/>
              </a:rPr>
              <a:t>▼</a:t>
            </a:r>
            <a:endParaRPr lang="en-US" sz="1200" dirty="0"/>
          </a:p>
        </p:txBody>
      </p:sp>
      <p:sp>
        <p:nvSpPr>
          <p:cNvPr id="17" name="Text 15"/>
          <p:cNvSpPr txBox="1"/>
          <p:nvPr/>
        </p:nvSpPr>
        <p:spPr>
          <a:xfrm>
            <a:off x="9646920" y="1371600"/>
            <a:ext cx="2103120" cy="310896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Mỗi mô-đun là một hàm gói trong IIFE, gắn vào window.Ericss; các trang nạp bằng thẻ script thường nên mở file là chạy.</a:t>
            </a:r>
            <a:endParaRPr lang="en-US" sz="1400" dirty="0"/>
          </a:p>
        </p:txBody>
      </p:sp>
      <p:sp>
        <p:nvSpPr>
          <p:cNvPr id="18" name="Text 16"/>
          <p:cNvSpPr txBox="1"/>
          <p:nvPr/>
        </p:nvSpPr>
        <p:spPr>
          <a:xfrm>
            <a:off x="9646920" y="4800600"/>
            <a:ext cx="2103120"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Google Sheet</a:t>
            </a:r>
            <a:endParaRPr lang="en-US" sz="1600" dirty="0"/>
          </a:p>
        </p:txBody>
      </p:sp>
      <p:sp>
        <p:nvSpPr>
          <p:cNvPr id="19" name="Text 17"/>
          <p:cNvSpPr txBox="1"/>
          <p:nvPr/>
        </p:nvSpPr>
        <p:spPr>
          <a:xfrm>
            <a:off x="9646920" y="5166360"/>
            <a:ext cx="2103120" cy="82296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nhận dữ liệu qua apps-script/Code.gs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25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êu đề"/>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Kế hoạch thực hiện</a:t>
            </a:r>
            <a:endParaRPr lang="en-US" sz="3400" dirty="0"/>
          </a:p>
        </p:txBody>
      </p:sp>
      <p:sp>
        <p:nvSpPr>
          <p:cNvPr id="3" name="Phụ đề"/>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600" dirty="0">
                <a:solidFill>
                  <a:schemeClr val="accent4"/>
                </a:solidFill>
                <a:latin typeface="Calibri" pitchFamily="34" charset="0"/>
                <a:ea typeface="Calibri" pitchFamily="34" charset="-122"/>
                <a:cs typeface="Calibri" pitchFamily="34" charset="-120"/>
              </a:rPr>
              <a:t>Làm theo vòng lặp ngắn: một yêu cầu, một commit nhỏ, deploy rồi kiểm tra trên trang thật</a:t>
            </a:r>
            <a:endParaRPr lang="en-US" sz="1600" dirty="0"/>
          </a:p>
        </p:txBody>
      </p:sp>
      <p:sp>
        <p:nvSpPr>
          <p:cNvPr id="4" name="Thẻ"/>
          <p:cNvSpPr/>
          <p:nvPr/>
        </p:nvSpPr>
        <p:spPr>
          <a:xfrm>
            <a:off x="548640" y="1828800"/>
            <a:ext cx="2103120" cy="3291840"/>
          </a:xfrm>
          <a:prstGeom prst="roundRect">
            <a:avLst>
              <a:gd name="adj" fmla="val 5217"/>
            </a:avLst>
          </a:prstGeom>
          <a:solidFill>
            <a:srgbClr val="F1EEE8"/>
          </a:solidFill>
          <a:ln w="12700">
            <a:solidFill>
              <a:srgbClr val="F1EEE8"/>
            </a:solidFill>
            <a:prstDash val="solid"/>
          </a:ln>
        </p:spPr>
      </p:sp>
      <p:sp>
        <p:nvSpPr>
          <p:cNvPr id="5" name="Số 1"/>
          <p:cNvSpPr/>
          <p:nvPr/>
        </p:nvSpPr>
        <p:spPr>
          <a:xfrm>
            <a:off x="731520" y="2011680"/>
            <a:ext cx="502920" cy="502920"/>
          </a:xfrm>
          <a:prstGeom prst="ellipse">
            <a:avLst/>
          </a:prstGeom>
          <a:solidFill>
            <a:schemeClr val="accent1"/>
          </a:solidFill>
          <a:ln w="12700">
            <a:solidFill>
              <a:schemeClr val="accent1"/>
            </a:solidFill>
            <a:prstDash val="solid"/>
          </a:ln>
        </p:spPr>
      </p:sp>
      <p:sp>
        <p:nvSpPr>
          <p:cNvPr id="6" name="Text 4"/>
          <p:cNvSpPr txBox="1"/>
          <p:nvPr/>
        </p:nvSpPr>
        <p:spPr>
          <a:xfrm>
            <a:off x="731520"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371600" y="2011680"/>
            <a:ext cx="1188720" cy="5029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10/10</a:t>
            </a:r>
            <a:endParaRPr lang="en-US" sz="2400" dirty="0"/>
          </a:p>
        </p:txBody>
      </p:sp>
      <p:sp>
        <p:nvSpPr>
          <p:cNvPr id="8" name="Text 6"/>
          <p:cNvSpPr txBox="1"/>
          <p:nvPr/>
        </p:nvSpPr>
        <p:spPr>
          <a:xfrm>
            <a:off x="731520" y="2743200"/>
            <a:ext cx="1737360" cy="64008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Khởi tạo</a:t>
            </a:r>
            <a:endParaRPr lang="en-US" sz="1700" dirty="0"/>
          </a:p>
        </p:txBody>
      </p:sp>
      <p:sp>
        <p:nvSpPr>
          <p:cNvPr id="9" name="Text 7"/>
          <p:cNvSpPr txBox="1"/>
          <p:nvPr/>
        </p:nvSpPr>
        <p:spPr>
          <a:xfrm>
            <a:off x="731520" y="3429000"/>
            <a:ext cx="1737360" cy="164592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Landing HTML5 và CSS Variables, deploy GitHub Actions, song ngữ, Animate.css, AOS, GSAP</a:t>
            </a:r>
            <a:endParaRPr lang="en-US" sz="1400" dirty="0"/>
          </a:p>
        </p:txBody>
      </p:sp>
      <p:sp>
        <p:nvSpPr>
          <p:cNvPr id="10" name="Thẻ"/>
          <p:cNvSpPr/>
          <p:nvPr/>
        </p:nvSpPr>
        <p:spPr>
          <a:xfrm>
            <a:off x="2788920" y="1828800"/>
            <a:ext cx="2103120" cy="3291840"/>
          </a:xfrm>
          <a:prstGeom prst="roundRect">
            <a:avLst>
              <a:gd name="adj" fmla="val 5217"/>
            </a:avLst>
          </a:prstGeom>
          <a:solidFill>
            <a:srgbClr val="F1EEE8"/>
          </a:solidFill>
          <a:ln w="12700">
            <a:solidFill>
              <a:srgbClr val="F1EEE8"/>
            </a:solidFill>
            <a:prstDash val="solid"/>
          </a:ln>
        </p:spPr>
      </p:sp>
      <p:sp>
        <p:nvSpPr>
          <p:cNvPr id="11" name="Số 2"/>
          <p:cNvSpPr/>
          <p:nvPr/>
        </p:nvSpPr>
        <p:spPr>
          <a:xfrm>
            <a:off x="2971800" y="2011680"/>
            <a:ext cx="502920" cy="502920"/>
          </a:xfrm>
          <a:prstGeom prst="ellipse">
            <a:avLst/>
          </a:prstGeom>
          <a:solidFill>
            <a:schemeClr val="accent1"/>
          </a:solidFill>
          <a:ln w="12700">
            <a:solidFill>
              <a:schemeClr val="accent1"/>
            </a:solidFill>
            <a:prstDash val="solid"/>
          </a:ln>
        </p:spPr>
      </p:sp>
      <p:sp>
        <p:nvSpPr>
          <p:cNvPr id="12" name="Text 10"/>
          <p:cNvSpPr txBox="1"/>
          <p:nvPr/>
        </p:nvSpPr>
        <p:spPr>
          <a:xfrm>
            <a:off x="2971800"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3611880" y="2011680"/>
            <a:ext cx="1188720" cy="5029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14/10</a:t>
            </a:r>
            <a:endParaRPr lang="en-US" sz="2400" dirty="0"/>
          </a:p>
        </p:txBody>
      </p:sp>
      <p:sp>
        <p:nvSpPr>
          <p:cNvPr id="14" name="Text 12"/>
          <p:cNvSpPr txBox="1"/>
          <p:nvPr/>
        </p:nvSpPr>
        <p:spPr>
          <a:xfrm>
            <a:off x="2971800" y="2743200"/>
            <a:ext cx="1737360" cy="64008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Tinh chỉnh</a:t>
            </a:r>
            <a:endParaRPr lang="en-US" sz="1700" dirty="0"/>
          </a:p>
        </p:txBody>
      </p:sp>
      <p:sp>
        <p:nvSpPr>
          <p:cNvPr id="15" name="Text 13"/>
          <p:cNvSpPr txBox="1"/>
          <p:nvPr/>
        </p:nvSpPr>
        <p:spPr>
          <a:xfrm>
            <a:off x="2971800" y="3429000"/>
            <a:ext cx="1737360" cy="164592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Bớt hiệu ứng rối mắt (bỏ thư viện cuộn Lenis)</a:t>
            </a:r>
            <a:endParaRPr lang="en-US" sz="1400" dirty="0"/>
          </a:p>
        </p:txBody>
      </p:sp>
      <p:sp>
        <p:nvSpPr>
          <p:cNvPr id="16" name="Thẻ"/>
          <p:cNvSpPr/>
          <p:nvPr/>
        </p:nvSpPr>
        <p:spPr>
          <a:xfrm>
            <a:off x="5029200" y="1828800"/>
            <a:ext cx="2103120" cy="3291840"/>
          </a:xfrm>
          <a:prstGeom prst="roundRect">
            <a:avLst>
              <a:gd name="adj" fmla="val 5217"/>
            </a:avLst>
          </a:prstGeom>
          <a:solidFill>
            <a:srgbClr val="F1EEE8"/>
          </a:solidFill>
          <a:ln w="12700">
            <a:solidFill>
              <a:srgbClr val="F1EEE8"/>
            </a:solidFill>
            <a:prstDash val="solid"/>
          </a:ln>
        </p:spPr>
      </p:sp>
      <p:sp>
        <p:nvSpPr>
          <p:cNvPr id="17" name="Số 3"/>
          <p:cNvSpPr/>
          <p:nvPr/>
        </p:nvSpPr>
        <p:spPr>
          <a:xfrm>
            <a:off x="5212080" y="2011680"/>
            <a:ext cx="502920" cy="502920"/>
          </a:xfrm>
          <a:prstGeom prst="ellipse">
            <a:avLst/>
          </a:prstGeom>
          <a:solidFill>
            <a:schemeClr val="accent1"/>
          </a:solidFill>
          <a:ln w="12700">
            <a:solidFill>
              <a:schemeClr val="accent1"/>
            </a:solidFill>
            <a:prstDash val="solid"/>
          </a:ln>
        </p:spPr>
      </p:sp>
      <p:sp>
        <p:nvSpPr>
          <p:cNvPr id="18" name="Text 16"/>
          <p:cNvSpPr txBox="1"/>
          <p:nvPr/>
        </p:nvSpPr>
        <p:spPr>
          <a:xfrm>
            <a:off x="5212080"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5852160" y="2011680"/>
            <a:ext cx="1188720" cy="5029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16/10</a:t>
            </a:r>
            <a:endParaRPr lang="en-US" sz="2400" dirty="0"/>
          </a:p>
        </p:txBody>
      </p:sp>
      <p:sp>
        <p:nvSpPr>
          <p:cNvPr id="20" name="Text 18"/>
          <p:cNvSpPr txBox="1"/>
          <p:nvPr/>
        </p:nvSpPr>
        <p:spPr>
          <a:xfrm>
            <a:off x="5212080" y="2743200"/>
            <a:ext cx="1737360" cy="64008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Dữ liệu và chức năng</a:t>
            </a:r>
            <a:endParaRPr lang="en-US" sz="1700" dirty="0"/>
          </a:p>
        </p:txBody>
      </p:sp>
      <p:sp>
        <p:nvSpPr>
          <p:cNvPr id="21" name="Text 19"/>
          <p:cNvSpPr txBox="1"/>
          <p:nvPr/>
        </p:nvSpPr>
        <p:spPr>
          <a:xfrm>
            <a:off x="5212080" y="3429000"/>
            <a:ext cx="1737360" cy="164592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Bảng JSON, giỏ báo giá, 26 sản phẩm, tách 4 trang, kết nối Google Sheet</a:t>
            </a:r>
            <a:endParaRPr lang="en-US" sz="1400" dirty="0"/>
          </a:p>
        </p:txBody>
      </p:sp>
      <p:sp>
        <p:nvSpPr>
          <p:cNvPr id="22" name="Thẻ"/>
          <p:cNvSpPr/>
          <p:nvPr/>
        </p:nvSpPr>
        <p:spPr>
          <a:xfrm>
            <a:off x="7269480" y="1828800"/>
            <a:ext cx="2103120" cy="3291840"/>
          </a:xfrm>
          <a:prstGeom prst="roundRect">
            <a:avLst>
              <a:gd name="adj" fmla="val 5217"/>
            </a:avLst>
          </a:prstGeom>
          <a:solidFill>
            <a:srgbClr val="F1EEE8"/>
          </a:solidFill>
          <a:ln w="12700">
            <a:solidFill>
              <a:srgbClr val="F1EEE8"/>
            </a:solidFill>
            <a:prstDash val="solid"/>
          </a:ln>
        </p:spPr>
      </p:sp>
      <p:sp>
        <p:nvSpPr>
          <p:cNvPr id="23" name="Số 4"/>
          <p:cNvSpPr/>
          <p:nvPr/>
        </p:nvSpPr>
        <p:spPr>
          <a:xfrm>
            <a:off x="7452360" y="2011680"/>
            <a:ext cx="502920" cy="502920"/>
          </a:xfrm>
          <a:prstGeom prst="ellipse">
            <a:avLst/>
          </a:prstGeom>
          <a:solidFill>
            <a:schemeClr val="accent1"/>
          </a:solidFill>
          <a:ln w="12700">
            <a:solidFill>
              <a:schemeClr val="accent1"/>
            </a:solidFill>
            <a:prstDash val="solid"/>
          </a:ln>
        </p:spPr>
      </p:sp>
      <p:sp>
        <p:nvSpPr>
          <p:cNvPr id="24" name="Text 22"/>
          <p:cNvSpPr txBox="1"/>
          <p:nvPr/>
        </p:nvSpPr>
        <p:spPr>
          <a:xfrm>
            <a:off x="7452360"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txBox="1"/>
          <p:nvPr/>
        </p:nvSpPr>
        <p:spPr>
          <a:xfrm>
            <a:off x="8092440" y="2011680"/>
            <a:ext cx="1188720" cy="5029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17/10</a:t>
            </a:r>
            <a:endParaRPr lang="en-US" sz="2400" dirty="0"/>
          </a:p>
        </p:txBody>
      </p:sp>
      <p:sp>
        <p:nvSpPr>
          <p:cNvPr id="26" name="Text 24"/>
          <p:cNvSpPr txBox="1"/>
          <p:nvPr/>
        </p:nvSpPr>
        <p:spPr>
          <a:xfrm>
            <a:off x="7452360" y="2743200"/>
            <a:ext cx="1737360" cy="64008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Hoàn thiện báo giá</a:t>
            </a:r>
            <a:endParaRPr lang="en-US" sz="1700" dirty="0"/>
          </a:p>
        </p:txBody>
      </p:sp>
      <p:sp>
        <p:nvSpPr>
          <p:cNvPr id="27" name="Text 25"/>
          <p:cNvSpPr txBox="1"/>
          <p:nvPr/>
        </p:nvSpPr>
        <p:spPr>
          <a:xfrm>
            <a:off x="7452360" y="3429000"/>
            <a:ext cx="1737360" cy="164592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Biểu mẫu thống nhất, script thường, xuất Excel, tài liệu thuyết trình</a:t>
            </a:r>
            <a:endParaRPr lang="en-US" sz="1400" dirty="0"/>
          </a:p>
        </p:txBody>
      </p:sp>
      <p:sp>
        <p:nvSpPr>
          <p:cNvPr id="28" name="Thẻ"/>
          <p:cNvSpPr/>
          <p:nvPr/>
        </p:nvSpPr>
        <p:spPr>
          <a:xfrm>
            <a:off x="9509760" y="1828800"/>
            <a:ext cx="2103120" cy="3291840"/>
          </a:xfrm>
          <a:prstGeom prst="roundRect">
            <a:avLst>
              <a:gd name="adj" fmla="val 5217"/>
            </a:avLst>
          </a:prstGeom>
          <a:solidFill>
            <a:srgbClr val="F1EEE8"/>
          </a:solidFill>
          <a:ln w="12700">
            <a:solidFill>
              <a:srgbClr val="F1EEE8"/>
            </a:solidFill>
            <a:prstDash val="solid"/>
          </a:ln>
        </p:spPr>
      </p:sp>
      <p:sp>
        <p:nvSpPr>
          <p:cNvPr id="29" name="Số 5"/>
          <p:cNvSpPr/>
          <p:nvPr/>
        </p:nvSpPr>
        <p:spPr>
          <a:xfrm>
            <a:off x="9692640" y="2011680"/>
            <a:ext cx="502920" cy="502920"/>
          </a:xfrm>
          <a:prstGeom prst="ellipse">
            <a:avLst/>
          </a:prstGeom>
          <a:solidFill>
            <a:schemeClr val="accent1"/>
          </a:solidFill>
          <a:ln w="12700">
            <a:solidFill>
              <a:schemeClr val="accent1"/>
            </a:solidFill>
            <a:prstDash val="solid"/>
          </a:ln>
        </p:spPr>
      </p:sp>
      <p:sp>
        <p:nvSpPr>
          <p:cNvPr id="30" name="Text 28"/>
          <p:cNvSpPr txBox="1"/>
          <p:nvPr/>
        </p:nvSpPr>
        <p:spPr>
          <a:xfrm>
            <a:off x="9692640"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1" name="Text 29"/>
          <p:cNvSpPr txBox="1"/>
          <p:nvPr/>
        </p:nvSpPr>
        <p:spPr>
          <a:xfrm>
            <a:off x="10332720" y="2011680"/>
            <a:ext cx="1188720" cy="5029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18/10</a:t>
            </a:r>
            <a:endParaRPr lang="en-US" sz="2400" dirty="0"/>
          </a:p>
        </p:txBody>
      </p:sp>
      <p:sp>
        <p:nvSpPr>
          <p:cNvPr id="32" name="Text 30"/>
          <p:cNvSpPr txBox="1"/>
          <p:nvPr/>
        </p:nvSpPr>
        <p:spPr>
          <a:xfrm>
            <a:off x="9692640" y="2743200"/>
            <a:ext cx="1737360" cy="64008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Bảo vệ và đóng gói</a:t>
            </a:r>
            <a:endParaRPr lang="en-US" sz="1700" dirty="0"/>
          </a:p>
        </p:txBody>
      </p:sp>
      <p:sp>
        <p:nvSpPr>
          <p:cNvPr id="33" name="Text 31"/>
          <p:cNvSpPr txBox="1"/>
          <p:nvPr/>
        </p:nvSpPr>
        <p:spPr>
          <a:xfrm>
            <a:off x="9692640" y="3429000"/>
            <a:ext cx="1737360" cy="164592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Email cảm ơn, mã QR, chống spam, README, PROMPT_LOG</a:t>
            </a:r>
            <a:endParaRPr lang="en-US" sz="1400" dirty="0"/>
          </a:p>
        </p:txBody>
      </p:sp>
      <p:sp>
        <p:nvSpPr>
          <p:cNvPr id="34" name="Thẻ"/>
          <p:cNvSpPr/>
          <p:nvPr/>
        </p:nvSpPr>
        <p:spPr>
          <a:xfrm>
            <a:off x="548640" y="5349240"/>
            <a:ext cx="11064240" cy="777240"/>
          </a:xfrm>
          <a:prstGeom prst="roundRect">
            <a:avLst>
              <a:gd name="adj" fmla="val 14118"/>
            </a:avLst>
          </a:prstGeom>
          <a:solidFill>
            <a:srgbClr val="FFFFFF"/>
          </a:solidFill>
          <a:ln w="12700">
            <a:solidFill>
              <a:srgbClr val="FFFFFF"/>
            </a:solidFill>
            <a:prstDash val="solid"/>
          </a:ln>
        </p:spPr>
      </p:sp>
      <p:sp>
        <p:nvSpPr>
          <p:cNvPr id="35" name="Khung vòng lặp"/>
          <p:cNvSpPr/>
          <p:nvPr/>
        </p:nvSpPr>
        <p:spPr>
          <a:xfrm>
            <a:off x="548640" y="5349240"/>
            <a:ext cx="11064240" cy="777240"/>
          </a:xfrm>
          <a:prstGeom prst="roundRect">
            <a:avLst>
              <a:gd name="adj" fmla="val 14118"/>
            </a:avLst>
          </a:prstGeom>
          <a:solidFill>
            <a:srgbClr val="FFFFFF"/>
          </a:solidFill>
          <a:ln w="12700">
            <a:solidFill>
              <a:srgbClr val="D9D4CA"/>
            </a:solidFill>
            <a:prstDash val="solid"/>
          </a:ln>
        </p:spPr>
      </p:sp>
      <p:sp>
        <p:nvSpPr>
          <p:cNvPr id="36" name="Text 34"/>
          <p:cNvSpPr txBox="1"/>
          <p:nvPr/>
        </p:nvSpPr>
        <p:spPr>
          <a:xfrm>
            <a:off x="777240" y="5349240"/>
            <a:ext cx="10607040" cy="77724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Mỗi vòng: </a:t>
            </a:r>
            <a:pPr indent="0" marL="0">
              <a:buNone/>
            </a:pPr>
            <a:r>
              <a:rPr lang="en-US" sz="1600" dirty="0">
                <a:solidFill>
                  <a:schemeClr val="tx1"/>
                </a:solidFill>
                <a:latin typeface="Calibri" pitchFamily="34" charset="0"/>
                <a:ea typeface="Calibri" pitchFamily="34" charset="-122"/>
                <a:cs typeface="Calibri" pitchFamily="34" charset="-120"/>
              </a:rPr>
              <a:t>yêu cầu, AI viết mã, kiểm thử, commit, deploy, kiểm tra trên trang thật.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25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êu đề"/>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Phân chia công việc</a:t>
            </a:r>
            <a:endParaRPr lang="en-US" sz="3400" dirty="0"/>
          </a:p>
        </p:txBody>
      </p:sp>
      <p:sp>
        <p:nvSpPr>
          <p:cNvPr id="3" name="Phụ đề"/>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600" dirty="0">
                <a:solidFill>
                  <a:schemeClr val="accent4"/>
                </a:solidFill>
                <a:latin typeface="Calibri" pitchFamily="34" charset="0"/>
                <a:ea typeface="Calibri" pitchFamily="34" charset="-122"/>
                <a:cs typeface="Calibri" pitchFamily="34" charset="-120"/>
              </a:rPr>
              <a:t>Dự án cá nhân, làm theo cách vibe coding: sinh viên định hướng, AI thực hiện, sinh viên kiểm tra</a:t>
            </a:r>
            <a:endParaRPr lang="en-US" sz="1600" dirty="0"/>
          </a:p>
        </p:txBody>
      </p:sp>
      <p:sp>
        <p:nvSpPr>
          <p:cNvPr id="4" name="Thẻ"/>
          <p:cNvSpPr/>
          <p:nvPr/>
        </p:nvSpPr>
        <p:spPr>
          <a:xfrm>
            <a:off x="548640" y="1737360"/>
            <a:ext cx="5440680" cy="3383280"/>
          </a:xfrm>
          <a:prstGeom prst="roundRect">
            <a:avLst>
              <a:gd name="adj" fmla="val 3243"/>
            </a:avLst>
          </a:prstGeom>
          <a:solidFill>
            <a:srgbClr val="F1EEE8"/>
          </a:solidFill>
          <a:ln w="12700">
            <a:solidFill>
              <a:srgbClr val="F1EEE8"/>
            </a:solidFill>
            <a:prstDash val="solid"/>
          </a:ln>
        </p:spPr>
      </p:sp>
      <p:sp>
        <p:nvSpPr>
          <p:cNvPr id="5" name="Text 3"/>
          <p:cNvSpPr txBox="1"/>
          <p:nvPr/>
        </p:nvSpPr>
        <p:spPr>
          <a:xfrm>
            <a:off x="777240" y="1828800"/>
            <a:ext cx="4983480" cy="457200"/>
          </a:xfrm>
          <a:prstGeom prst="rect">
            <a:avLst/>
          </a:prstGeom>
          <a:noFill/>
          <a:ln/>
        </p:spPr>
        <p:txBody>
          <a:bodyPr wrap="square" lIns="0" tIns="0" rIns="0" bIns="0" rtlCol="0" anchor="ctr"/>
          <a:lstStyle/>
          <a:p>
            <a:pPr indent="0" marL="0">
              <a:buNone/>
            </a:pPr>
            <a:r>
              <a:rPr lang="en-US" sz="2000" b="1" dirty="0">
                <a:solidFill>
                  <a:schemeClr val="accent1"/>
                </a:solidFill>
                <a:latin typeface="Calibri" pitchFamily="34" charset="0"/>
                <a:ea typeface="Calibri" pitchFamily="34" charset="-122"/>
                <a:cs typeface="Calibri" pitchFamily="34" charset="-120"/>
              </a:rPr>
              <a:t>Sinh viên (Nguyễn Đăng Phát)</a:t>
            </a:r>
            <a:endParaRPr lang="en-US" sz="2000" dirty="0"/>
          </a:p>
        </p:txBody>
      </p:sp>
      <p:sp>
        <p:nvSpPr>
          <p:cNvPr id="6" name="Text 4"/>
          <p:cNvSpPr txBox="1"/>
          <p:nvPr/>
        </p:nvSpPr>
        <p:spPr>
          <a:xfrm>
            <a:off x="777240" y="2331720"/>
            <a:ext cx="4983480" cy="269748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Đặt yêu cầu, chọn đề tài và hướng thiết kế</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Duyệt giao diện, nội dung và dữ liệu mẫu</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Tạo repo, Google Sheet, triển khai Apps Script</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Kiểm tra trên trang thật và ra quyết định (bỏ Lenis, hoàn nguyên landing, bỏ giới hạn lượt)</a:t>
            </a:r>
            <a:endParaRPr lang="en-US" sz="1600" dirty="0"/>
          </a:p>
        </p:txBody>
      </p:sp>
      <p:sp>
        <p:nvSpPr>
          <p:cNvPr id="7" name="Thẻ"/>
          <p:cNvSpPr/>
          <p:nvPr/>
        </p:nvSpPr>
        <p:spPr>
          <a:xfrm>
            <a:off x="6172200" y="1737360"/>
            <a:ext cx="5440680" cy="3383280"/>
          </a:xfrm>
          <a:prstGeom prst="roundRect">
            <a:avLst>
              <a:gd name="adj" fmla="val 3243"/>
            </a:avLst>
          </a:prstGeom>
          <a:solidFill>
            <a:srgbClr val="F1EEE8"/>
          </a:solidFill>
          <a:ln w="12700">
            <a:solidFill>
              <a:srgbClr val="F1EEE8"/>
            </a:solidFill>
            <a:prstDash val="solid"/>
          </a:ln>
        </p:spPr>
      </p:sp>
      <p:sp>
        <p:nvSpPr>
          <p:cNvPr id="8" name="Text 6"/>
          <p:cNvSpPr txBox="1"/>
          <p:nvPr/>
        </p:nvSpPr>
        <p:spPr>
          <a:xfrm>
            <a:off x="6400800" y="1828800"/>
            <a:ext cx="4983480" cy="457200"/>
          </a:xfrm>
          <a:prstGeom prst="rect">
            <a:avLst/>
          </a:prstGeom>
          <a:noFill/>
          <a:ln/>
        </p:spPr>
        <p:txBody>
          <a:bodyPr wrap="square" lIns="0" tIns="0" rIns="0" bIns="0" rtlCol="0" anchor="ctr"/>
          <a:lstStyle/>
          <a:p>
            <a:pPr indent="0" marL="0">
              <a:buNone/>
            </a:pPr>
            <a:r>
              <a:rPr lang="en-US" sz="2000" b="1" dirty="0">
                <a:solidFill>
                  <a:schemeClr val="accent1"/>
                </a:solidFill>
                <a:latin typeface="Calibri" pitchFamily="34" charset="0"/>
                <a:ea typeface="Calibri" pitchFamily="34" charset="-122"/>
                <a:cs typeface="Calibri" pitchFamily="34" charset="-120"/>
              </a:rPr>
              <a:t>Trợ lý AI (Claude Code)</a:t>
            </a:r>
            <a:endParaRPr lang="en-US" sz="2000" dirty="0"/>
          </a:p>
        </p:txBody>
      </p:sp>
      <p:sp>
        <p:nvSpPr>
          <p:cNvPr id="9" name="Text 7"/>
          <p:cNvSpPr txBox="1"/>
          <p:nvPr/>
        </p:nvSpPr>
        <p:spPr>
          <a:xfrm>
            <a:off x="6400800" y="2331720"/>
            <a:ext cx="4983480" cy="269748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Viết HTML, CSS, JavaScript và Apps Script</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Tạo 26 sản phẩm mẫu, chuỗi song ngữ</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Chạy kiểm thử tự động trên trình duyệt, chụp ảnh để soát lỗi</a:t>
            </a:r>
            <a:endParaRPr lang="en-US" sz="1600" dirty="0"/>
          </a:p>
          <a:p>
            <a:pPr marL="342900" indent="-342900">
              <a:spcAft>
                <a:spcPts val="900"/>
              </a:spcAft>
              <a:buSzPct val="100000"/>
              <a:buChar char="•"/>
            </a:pPr>
            <a:r>
              <a:rPr lang="en-US" sz="1600" dirty="0">
                <a:solidFill>
                  <a:schemeClr val="tx1"/>
                </a:solidFill>
                <a:latin typeface="Calibri" pitchFamily="34" charset="0"/>
                <a:ea typeface="Calibri" pitchFamily="34" charset="-122"/>
                <a:cs typeface="Calibri" pitchFamily="34" charset="-120"/>
              </a:rPr>
              <a:t>Viết tài liệu, commit tiếng Việt, ghi PROMPT_LOG</a:t>
            </a:r>
            <a:endParaRPr lang="en-US" sz="1600" dirty="0"/>
          </a:p>
        </p:txBody>
      </p:sp>
      <p:sp>
        <p:nvSpPr>
          <p:cNvPr id="10" name="Thẻ"/>
          <p:cNvSpPr/>
          <p:nvPr/>
        </p:nvSpPr>
        <p:spPr>
          <a:xfrm>
            <a:off x="548640" y="5349240"/>
            <a:ext cx="11064240" cy="777240"/>
          </a:xfrm>
          <a:prstGeom prst="roundRect">
            <a:avLst>
              <a:gd name="adj" fmla="val 14118"/>
            </a:avLst>
          </a:prstGeom>
          <a:solidFill>
            <a:srgbClr val="FFFFFF"/>
          </a:solidFill>
          <a:ln w="12700">
            <a:solidFill>
              <a:srgbClr val="FFFFFF"/>
            </a:solidFill>
            <a:prstDash val="solid"/>
          </a:ln>
        </p:spPr>
      </p:sp>
      <p:sp>
        <p:nvSpPr>
          <p:cNvPr id="11" name="Khung Git"/>
          <p:cNvSpPr/>
          <p:nvPr/>
        </p:nvSpPr>
        <p:spPr>
          <a:xfrm>
            <a:off x="548640" y="5349240"/>
            <a:ext cx="11064240" cy="777240"/>
          </a:xfrm>
          <a:prstGeom prst="roundRect">
            <a:avLst>
              <a:gd name="adj" fmla="val 14118"/>
            </a:avLst>
          </a:prstGeom>
          <a:solidFill>
            <a:srgbClr val="FFFFFF"/>
          </a:solidFill>
          <a:ln w="12700">
            <a:solidFill>
              <a:srgbClr val="D9D4CA"/>
            </a:solidFill>
            <a:prstDash val="solid"/>
          </a:ln>
        </p:spPr>
      </p:sp>
      <p:sp>
        <p:nvSpPr>
          <p:cNvPr id="12" name="Text 10"/>
          <p:cNvSpPr txBox="1"/>
          <p:nvPr/>
        </p:nvSpPr>
        <p:spPr>
          <a:xfrm>
            <a:off x="777240" y="5349240"/>
            <a:ext cx="10607040" cy="77724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Quy trình Git: </a:t>
            </a:r>
            <a:pPr indent="0" marL="0">
              <a:buNone/>
            </a:pPr>
            <a:r>
              <a:rPr lang="en-US" sz="1500" dirty="0">
                <a:solidFill>
                  <a:schemeClr val="tx1"/>
                </a:solidFill>
                <a:latin typeface="Calibri" pitchFamily="34" charset="0"/>
                <a:ea typeface="Calibri" pitchFamily="34" charset="-122"/>
                <a:cs typeface="Calibri" pitchFamily="34" charset="-120"/>
              </a:rPr>
              <a:t>commit nhỏ theo loại (feat, fix, docs, refactor), push lên main, GitHub Actions tự deploy lên GitHub Pages.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25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êu đề"/>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Nhật ký prompt (tóm tắt 22 lần)</a:t>
            </a:r>
            <a:endParaRPr lang="en-US" sz="3400" dirty="0"/>
          </a:p>
        </p:txBody>
      </p:sp>
      <p:sp>
        <p:nvSpPr>
          <p:cNvPr id="3" name="Phụ đề"/>
          <p:cNvSpPr txBox="1"/>
          <p:nvPr/>
        </p:nvSpPr>
        <p:spPr>
          <a:xfrm>
            <a:off x="548640" y="1024128"/>
            <a:ext cx="11064240" cy="365760"/>
          </a:xfrm>
          <a:prstGeom prst="rect">
            <a:avLst/>
          </a:prstGeom>
          <a:noFill/>
          <a:ln/>
        </p:spPr>
        <p:txBody>
          <a:bodyPr wrap="square" lIns="0" tIns="0" rIns="0" bIns="0" rtlCol="0" anchor="ctr"/>
          <a:lstStyle/>
          <a:p>
            <a:pPr indent="0" marL="0">
              <a:buNone/>
            </a:pPr>
            <a:r>
              <a:rPr lang="en-US" sz="1600" dirty="0">
                <a:solidFill>
                  <a:schemeClr val="accent4"/>
                </a:solidFill>
                <a:latin typeface="Calibri" pitchFamily="34" charset="0"/>
                <a:ea typeface="Calibri" pitchFamily="34" charset="-122"/>
                <a:cs typeface="Calibri" pitchFamily="34" charset="-120"/>
              </a:rPr>
              <a:t>Bản đầy đủ nằm trong PROMPT_LOG.md trên repo</a:t>
            </a:r>
            <a:endParaRPr lang="en-US" sz="1600" dirty="0"/>
          </a:p>
        </p:txBody>
      </p:sp>
      <p:graphicFrame>
        <p:nvGraphicFramePr>
          <p:cNvPr id="16" name="Bảng prompt log"/>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188720"/>
                <a:gridCol w="9875520"/>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Lần</a:t>
                      </a:r>
                      <a:endParaRPr lang="en-US" sz="1500" dirty="0">
                        <a:latin typeface="Calibri" charset="0"/>
                        <a:ea typeface="Calibri" charset="0"/>
                        <a:cs typeface="Calibri" charset="0"/>
                      </a:endParaRPr>
                    </a:p>
                  </a:txBody>
                  <a:tcPr marL="137160" marR="137160" marT="36576" marB="36576"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5B3A1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Nội dung chính</a:t>
                      </a:r>
                      <a:endParaRPr lang="en-US" sz="1500" dirty="0">
                        <a:latin typeface="Calibri" charset="0"/>
                        <a:ea typeface="Calibri" charset="0"/>
                        <a:cs typeface="Calibri" charset="0"/>
                      </a:endParaRPr>
                    </a:p>
                  </a:txBody>
                  <a:tcPr marL="137160" marR="137160" marT="36576" marB="36576"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5B3A1B"/>
                    </a:solidFill>
                  </a:tcPr>
                </a:tc>
              </a:tr>
              <a:tr h="457200">
                <a:tc>
                  <a:txBody>
                    <a:bodyPr/>
                    <a:lstStyle/>
                    <a:p>
                      <a:pPr algn="ctr" indent="0" marL="0">
                        <a:buNone/>
                      </a:pPr>
                      <a:r>
                        <a:rPr lang="en-US" sz="1400" b="1" dirty="0">
                          <a:solidFill>
                            <a:srgbClr val="1A1714"/>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137160" marR="137160" marT="36576" marB="36576"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1EEE8"/>
                    </a:solidFill>
                  </a:tcPr>
                </a:tc>
                <a:tc>
                  <a:txBody>
                    <a:bodyPr/>
                    <a:lstStyle/>
                    <a:p>
                      <a:pPr algn="l" indent="0" marL="0">
                        <a:buNone/>
                      </a:pPr>
                      <a:r>
                        <a:rPr lang="en-US" sz="1400" dirty="0">
                          <a:solidFill>
                            <a:srgbClr val="1A1714"/>
                          </a:solidFill>
                          <a:latin typeface="Calibri" pitchFamily="34" charset="0"/>
                          <a:ea typeface="Calibri" pitchFamily="34" charset="-122"/>
                          <a:cs typeface="Calibri" pitchFamily="34" charset="-120"/>
                        </a:rPr>
                        <a:t>Khung semantic HTML, CSS Variables, thẩm mỹ light cao cấp, Animate.css, AOS, hover và focus tự viết</a:t>
                      </a:r>
                      <a:endParaRPr lang="en-US" sz="1400" dirty="0">
                        <a:latin typeface="Calibri" charset="0"/>
                        <a:ea typeface="Calibri" charset="0"/>
                        <a:cs typeface="Calibri" charset="0"/>
                      </a:endParaRPr>
                    </a:p>
                  </a:txBody>
                  <a:tcPr marL="137160" marR="137160" marT="36576" marB="36576"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FFFFF"/>
                    </a:solidFill>
                  </a:tcPr>
                </a:tc>
              </a:tr>
              <a:tr h="457200">
                <a:tc>
                  <a:txBody>
                    <a:bodyPr/>
                    <a:lstStyle/>
                    <a:p>
                      <a:pPr algn="ctr" indent="0" marL="0">
                        <a:buNone/>
                      </a:pPr>
                      <a:r>
                        <a:rPr lang="en-US" sz="1400" b="1" dirty="0">
                          <a:solidFill>
                            <a:srgbClr val="1A1714"/>
                          </a:solidFill>
                          <a:latin typeface="Calibri" pitchFamily="34" charset="0"/>
                          <a:ea typeface="Calibri" pitchFamily="34" charset="-122"/>
                          <a:cs typeface="Calibri" pitchFamily="34" charset="-120"/>
                        </a:rPr>
                        <a:t>5-7</a:t>
                      </a:r>
                      <a:endParaRPr lang="en-US" sz="1400" dirty="0">
                        <a:latin typeface="Calibri" charset="0"/>
                        <a:ea typeface="Calibri" charset="0"/>
                        <a:cs typeface="Calibri" charset="0"/>
                      </a:endParaRPr>
                    </a:p>
                  </a:txBody>
                  <a:tcPr marL="137160" marR="137160" marT="36576" marB="36576"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1EEE8"/>
                    </a:solidFill>
                  </a:tcPr>
                </a:tc>
                <a:tc>
                  <a:txBody>
                    <a:bodyPr/>
                    <a:lstStyle/>
                    <a:p>
                      <a:pPr algn="l" indent="0" marL="0">
                        <a:buNone/>
                      </a:pPr>
                      <a:r>
                        <a:rPr lang="en-US" sz="1400" dirty="0">
                          <a:solidFill>
                            <a:srgbClr val="1A1714"/>
                          </a:solidFill>
                          <a:latin typeface="Calibri" pitchFamily="34" charset="0"/>
                          <a:ea typeface="Calibri" pitchFamily="34" charset="-122"/>
                          <a:cs typeface="Calibri" pitchFamily="34" charset="-120"/>
                        </a:rPr>
                        <a:t>Chọn hình ảnh, đặt tên thương hiệu, GitHub Actions đến GitHub Pages</a:t>
                      </a:r>
                      <a:endParaRPr lang="en-US" sz="1400" dirty="0">
                        <a:latin typeface="Calibri" charset="0"/>
                        <a:ea typeface="Calibri" charset="0"/>
                        <a:cs typeface="Calibri" charset="0"/>
                      </a:endParaRPr>
                    </a:p>
                  </a:txBody>
                  <a:tcPr marL="137160" marR="137160" marT="36576" marB="36576"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FFFFF"/>
                    </a:solidFill>
                  </a:tcPr>
                </a:tc>
              </a:tr>
              <a:tr h="457200">
                <a:tc>
                  <a:txBody>
                    <a:bodyPr/>
                    <a:lstStyle/>
                    <a:p>
                      <a:pPr algn="ctr" indent="0" marL="0">
                        <a:buNone/>
                      </a:pPr>
                      <a:r>
                        <a:rPr lang="en-US" sz="1400" b="1" dirty="0">
                          <a:solidFill>
                            <a:srgbClr val="1A1714"/>
                          </a:solidFill>
                          <a:latin typeface="Calibri" pitchFamily="34" charset="0"/>
                          <a:ea typeface="Calibri" pitchFamily="34" charset="-122"/>
                          <a:cs typeface="Calibri" pitchFamily="34" charset="-120"/>
                        </a:rPr>
                        <a:t>8-9</a:t>
                      </a:r>
                      <a:endParaRPr lang="en-US" sz="1400" dirty="0">
                        <a:latin typeface="Calibri" charset="0"/>
                        <a:ea typeface="Calibri" charset="0"/>
                        <a:cs typeface="Calibri" charset="0"/>
                      </a:endParaRPr>
                    </a:p>
                  </a:txBody>
                  <a:tcPr marL="137160" marR="137160" marT="36576" marB="36576"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1EEE8"/>
                    </a:solidFill>
                  </a:tcPr>
                </a:tc>
                <a:tc>
                  <a:txBody>
                    <a:bodyPr/>
                    <a:lstStyle/>
                    <a:p>
                      <a:pPr algn="l" indent="0" marL="0">
                        <a:buNone/>
                      </a:pPr>
                      <a:r>
                        <a:rPr lang="en-US" sz="1400" dirty="0">
                          <a:solidFill>
                            <a:srgbClr val="1A1714"/>
                          </a:solidFill>
                          <a:latin typeface="Calibri" pitchFamily="34" charset="0"/>
                          <a:ea typeface="Calibri" pitchFamily="34" charset="-122"/>
                          <a:cs typeface="Calibri" pitchFamily="34" charset="-120"/>
                        </a:rPr>
                        <a:t>Song ngữ Việt · Anh (mặc định tiếng Việt), hộp thoại GitHub ở chân trang</a:t>
                      </a:r>
                      <a:endParaRPr lang="en-US" sz="1400" dirty="0">
                        <a:latin typeface="Calibri" charset="0"/>
                        <a:ea typeface="Calibri" charset="0"/>
                        <a:cs typeface="Calibri" charset="0"/>
                      </a:endParaRPr>
                    </a:p>
                  </a:txBody>
                  <a:tcPr marL="137160" marR="137160" marT="36576" marB="36576"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FFFFF"/>
                    </a:solidFill>
                  </a:tcPr>
                </a:tc>
              </a:tr>
              <a:tr h="457200">
                <a:tc>
                  <a:txBody>
                    <a:bodyPr/>
                    <a:lstStyle/>
                    <a:p>
                      <a:pPr algn="ctr" indent="0" marL="0">
                        <a:buNone/>
                      </a:pPr>
                      <a:r>
                        <a:rPr lang="en-US" sz="1400" b="1" dirty="0">
                          <a:solidFill>
                            <a:srgbClr val="1A1714"/>
                          </a:solidFill>
                          <a:latin typeface="Calibri" pitchFamily="34" charset="0"/>
                          <a:ea typeface="Calibri" pitchFamily="34" charset="-122"/>
                          <a:cs typeface="Calibri" pitchFamily="34" charset="-120"/>
                        </a:rPr>
                        <a:t>10-12</a:t>
                      </a:r>
                      <a:endParaRPr lang="en-US" sz="1400" dirty="0">
                        <a:latin typeface="Calibri" charset="0"/>
                        <a:ea typeface="Calibri" charset="0"/>
                        <a:cs typeface="Calibri" charset="0"/>
                      </a:endParaRPr>
                    </a:p>
                  </a:txBody>
                  <a:tcPr marL="137160" marR="137160" marT="36576" marB="36576"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1EEE8"/>
                    </a:solidFill>
                  </a:tcPr>
                </a:tc>
                <a:tc>
                  <a:txBody>
                    <a:bodyPr/>
                    <a:lstStyle/>
                    <a:p>
                      <a:pPr algn="l" indent="0" marL="0">
                        <a:buNone/>
                      </a:pPr>
                      <a:r>
                        <a:rPr lang="en-US" sz="1400" dirty="0">
                          <a:solidFill>
                            <a:srgbClr val="1A1714"/>
                          </a:solidFill>
                          <a:latin typeface="Calibri" pitchFamily="34" charset="0"/>
                          <a:ea typeface="Calibri" pitchFamily="34" charset="-122"/>
                          <a:cs typeface="Calibri" pitchFamily="34" charset="-120"/>
                        </a:rPr>
                        <a:t>Đổi tông màu nâu, làm mới hero, thêm GSAP và hiệu ứng hover mượt hơn</a:t>
                      </a:r>
                      <a:endParaRPr lang="en-US" sz="1400" dirty="0">
                        <a:latin typeface="Calibri" charset="0"/>
                        <a:ea typeface="Calibri" charset="0"/>
                        <a:cs typeface="Calibri" charset="0"/>
                      </a:endParaRPr>
                    </a:p>
                  </a:txBody>
                  <a:tcPr marL="137160" marR="137160" marT="36576" marB="36576"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FFFFF"/>
                    </a:solidFill>
                  </a:tcPr>
                </a:tc>
              </a:tr>
              <a:tr h="457200">
                <a:tc>
                  <a:txBody>
                    <a:bodyPr/>
                    <a:lstStyle/>
                    <a:p>
                      <a:pPr algn="ctr" indent="0" marL="0">
                        <a:buNone/>
                      </a:pPr>
                      <a:r>
                        <a:rPr lang="en-US" sz="1400" b="1" dirty="0">
                          <a:solidFill>
                            <a:srgbClr val="1A1714"/>
                          </a:solidFill>
                          <a:latin typeface="Calibri" pitchFamily="34" charset="0"/>
                          <a:ea typeface="Calibri" pitchFamily="34" charset="-122"/>
                          <a:cs typeface="Calibri" pitchFamily="34" charset="-120"/>
                        </a:rPr>
                        <a:t>13-14</a:t>
                      </a:r>
                      <a:endParaRPr lang="en-US" sz="1400" dirty="0">
                        <a:latin typeface="Calibri" charset="0"/>
                        <a:ea typeface="Calibri" charset="0"/>
                        <a:cs typeface="Calibri" charset="0"/>
                      </a:endParaRPr>
                    </a:p>
                  </a:txBody>
                  <a:tcPr marL="137160" marR="137160" marT="36576" marB="36576"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1EEE8"/>
                    </a:solidFill>
                  </a:tcPr>
                </a:tc>
                <a:tc>
                  <a:txBody>
                    <a:bodyPr/>
                    <a:lstStyle/>
                    <a:p>
                      <a:pPr algn="l" indent="0" marL="0">
                        <a:buNone/>
                      </a:pPr>
                      <a:r>
                        <a:rPr lang="en-US" sz="1400" dirty="0">
                          <a:solidFill>
                            <a:srgbClr val="1A1714"/>
                          </a:solidFill>
                          <a:latin typeface="Calibri" pitchFamily="34" charset="0"/>
                          <a:ea typeface="Calibri" pitchFamily="34" charset="-122"/>
                          <a:cs typeface="Calibri" pitchFamily="34" charset="-120"/>
                        </a:rPr>
                        <a:t>Tách nhiều trang, dữ liệu JSON, giỏ báo giá, báo giá theo MOQ, 26 sản phẩm, lưu Google Sheet</a:t>
                      </a:r>
                      <a:endParaRPr lang="en-US" sz="1400" dirty="0">
                        <a:latin typeface="Calibri" charset="0"/>
                        <a:ea typeface="Calibri" charset="0"/>
                        <a:cs typeface="Calibri" charset="0"/>
                      </a:endParaRPr>
                    </a:p>
                  </a:txBody>
                  <a:tcPr marL="137160" marR="137160" marT="36576" marB="36576"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FFFFF"/>
                    </a:solidFill>
                  </a:tcPr>
                </a:tc>
              </a:tr>
              <a:tr h="457200">
                <a:tc>
                  <a:txBody>
                    <a:bodyPr/>
                    <a:lstStyle/>
                    <a:p>
                      <a:pPr algn="ctr" indent="0" marL="0">
                        <a:buNone/>
                      </a:pPr>
                      <a:r>
                        <a:rPr lang="en-US" sz="1400" b="1" dirty="0">
                          <a:solidFill>
                            <a:srgbClr val="1A1714"/>
                          </a:solidFill>
                          <a:latin typeface="Calibri" pitchFamily="34" charset="0"/>
                          <a:ea typeface="Calibri" pitchFamily="34" charset="-122"/>
                          <a:cs typeface="Calibri" pitchFamily="34" charset="-120"/>
                        </a:rPr>
                        <a:t>15-16</a:t>
                      </a:r>
                      <a:endParaRPr lang="en-US" sz="1400" dirty="0">
                        <a:latin typeface="Calibri" charset="0"/>
                        <a:ea typeface="Calibri" charset="0"/>
                        <a:cs typeface="Calibri" charset="0"/>
                      </a:endParaRPr>
                    </a:p>
                  </a:txBody>
                  <a:tcPr marL="137160" marR="137160" marT="36576" marB="36576"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1EEE8"/>
                    </a:solidFill>
                  </a:tcPr>
                </a:tc>
                <a:tc>
                  <a:txBody>
                    <a:bodyPr/>
                    <a:lstStyle/>
                    <a:p>
                      <a:pPr algn="l" indent="0" marL="0">
                        <a:buNone/>
                      </a:pPr>
                      <a:r>
                        <a:rPr lang="en-US" sz="1400" dirty="0">
                          <a:solidFill>
                            <a:srgbClr val="1A1714"/>
                          </a:solidFill>
                          <a:latin typeface="Calibri" pitchFamily="34" charset="0"/>
                          <a:ea typeface="Calibri" pitchFamily="34" charset="-122"/>
                          <a:cs typeface="Calibri" pitchFamily="34" charset="-120"/>
                        </a:rPr>
                        <a:t>Kết nối Sheet thật và gỡ lỗi cấp quyền; gộp thành một biểu mẫu báo giá</a:t>
                      </a:r>
                      <a:endParaRPr lang="en-US" sz="1400" dirty="0">
                        <a:latin typeface="Calibri" charset="0"/>
                        <a:ea typeface="Calibri" charset="0"/>
                        <a:cs typeface="Calibri" charset="0"/>
                      </a:endParaRPr>
                    </a:p>
                  </a:txBody>
                  <a:tcPr marL="137160" marR="137160" marT="36576" marB="36576"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FFFFF"/>
                    </a:solidFill>
                  </a:tcPr>
                </a:tc>
              </a:tr>
              <a:tr h="457200">
                <a:tc>
                  <a:txBody>
                    <a:bodyPr/>
                    <a:lstStyle/>
                    <a:p>
                      <a:pPr algn="ctr" indent="0" marL="0">
                        <a:buNone/>
                      </a:pPr>
                      <a:r>
                        <a:rPr lang="en-US" sz="1400" b="1" dirty="0">
                          <a:solidFill>
                            <a:srgbClr val="1A1714"/>
                          </a:solidFill>
                          <a:latin typeface="Calibri" pitchFamily="34" charset="0"/>
                          <a:ea typeface="Calibri" pitchFamily="34" charset="-122"/>
                          <a:cs typeface="Calibri" pitchFamily="34" charset="-120"/>
                        </a:rPr>
                        <a:t>17-18</a:t>
                      </a:r>
                      <a:endParaRPr lang="en-US" sz="1400" dirty="0">
                        <a:latin typeface="Calibri" charset="0"/>
                        <a:ea typeface="Calibri" charset="0"/>
                        <a:cs typeface="Calibri" charset="0"/>
                      </a:endParaRPr>
                    </a:p>
                  </a:txBody>
                  <a:tcPr marL="137160" marR="137160" marT="36576" marB="36576"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1EEE8"/>
                    </a:solidFill>
                  </a:tcPr>
                </a:tc>
                <a:tc>
                  <a:txBody>
                    <a:bodyPr/>
                    <a:lstStyle/>
                    <a:p>
                      <a:pPr algn="l" indent="0" marL="0">
                        <a:buNone/>
                      </a:pPr>
                      <a:r>
                        <a:rPr lang="en-US" sz="1400" dirty="0">
                          <a:solidFill>
                            <a:srgbClr val="1A1714"/>
                          </a:solidFill>
                          <a:latin typeface="Calibri" pitchFamily="34" charset="0"/>
                          <a:ea typeface="Calibri" pitchFamily="34" charset="-122"/>
                          <a:cs typeface="Calibri" pitchFamily="34" charset="-120"/>
                        </a:rPr>
                        <a:t>Thiết kế lại landing bằng skill, dọn dự án, tài liệu thuyết trình, chuyển sang script thường</a:t>
                      </a:r>
                      <a:endParaRPr lang="en-US" sz="1400" dirty="0">
                        <a:latin typeface="Calibri" charset="0"/>
                        <a:ea typeface="Calibri" charset="0"/>
                        <a:cs typeface="Calibri" charset="0"/>
                      </a:endParaRPr>
                    </a:p>
                  </a:txBody>
                  <a:tcPr marL="137160" marR="137160" marT="36576" marB="36576"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FFFFF"/>
                    </a:solidFill>
                  </a:tcPr>
                </a:tc>
              </a:tr>
              <a:tr h="457200">
                <a:tc>
                  <a:txBody>
                    <a:bodyPr/>
                    <a:lstStyle/>
                    <a:p>
                      <a:pPr algn="ctr" indent="0" marL="0">
                        <a:buNone/>
                      </a:pPr>
                      <a:r>
                        <a:rPr lang="en-US" sz="1400" b="1" dirty="0">
                          <a:solidFill>
                            <a:srgbClr val="1A1714"/>
                          </a:solidFill>
                          <a:latin typeface="Calibri" pitchFamily="34" charset="0"/>
                          <a:ea typeface="Calibri" pitchFamily="34" charset="-122"/>
                          <a:cs typeface="Calibri" pitchFamily="34" charset="-120"/>
                        </a:rPr>
                        <a:t>19-20</a:t>
                      </a:r>
                      <a:endParaRPr lang="en-US" sz="1400" dirty="0">
                        <a:latin typeface="Calibri" charset="0"/>
                        <a:ea typeface="Calibri" charset="0"/>
                        <a:cs typeface="Calibri" charset="0"/>
                      </a:endParaRPr>
                    </a:p>
                  </a:txBody>
                  <a:tcPr marL="137160" marR="137160" marT="36576" marB="36576"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1EEE8"/>
                    </a:solidFill>
                  </a:tcPr>
                </a:tc>
                <a:tc>
                  <a:txBody>
                    <a:bodyPr/>
                    <a:lstStyle/>
                    <a:p>
                      <a:pPr algn="l" indent="0" marL="0">
                        <a:buNone/>
                      </a:pPr>
                      <a:r>
                        <a:rPr lang="en-US" sz="1400" dirty="0">
                          <a:solidFill>
                            <a:srgbClr val="1A1714"/>
                          </a:solidFill>
                          <a:latin typeface="Calibri" pitchFamily="34" charset="0"/>
                          <a:ea typeface="Calibri" pitchFamily="34" charset="-122"/>
                          <a:cs typeface="Calibri" pitchFamily="34" charset="-120"/>
                        </a:rPr>
                        <a:t>Email cảm ơn, mã QR, bảng Sheet tiếng Việt, chống spam, xuất Excel</a:t>
                      </a:r>
                      <a:endParaRPr lang="en-US" sz="1400" dirty="0">
                        <a:latin typeface="Calibri" charset="0"/>
                        <a:ea typeface="Calibri" charset="0"/>
                        <a:cs typeface="Calibri" charset="0"/>
                      </a:endParaRPr>
                    </a:p>
                  </a:txBody>
                  <a:tcPr marL="137160" marR="137160" marT="36576" marB="36576"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FFFFF"/>
                    </a:solidFill>
                  </a:tcPr>
                </a:tc>
              </a:tr>
              <a:tr h="457200">
                <a:tc>
                  <a:txBody>
                    <a:bodyPr/>
                    <a:lstStyle/>
                    <a:p>
                      <a:pPr algn="ctr" indent="0" marL="0">
                        <a:buNone/>
                      </a:pPr>
                      <a:r>
                        <a:rPr lang="en-US" sz="1400" b="1" dirty="0">
                          <a:solidFill>
                            <a:srgbClr val="1A1714"/>
                          </a:solidFill>
                          <a:latin typeface="Calibri" pitchFamily="34" charset="0"/>
                          <a:ea typeface="Calibri" pitchFamily="34" charset="-122"/>
                          <a:cs typeface="Calibri" pitchFamily="34" charset="-120"/>
                        </a:rPr>
                        <a:t>21-22</a:t>
                      </a:r>
                      <a:endParaRPr lang="en-US" sz="1400" dirty="0">
                        <a:latin typeface="Calibri" charset="0"/>
                        <a:ea typeface="Calibri" charset="0"/>
                        <a:cs typeface="Calibri" charset="0"/>
                      </a:endParaRPr>
                    </a:p>
                  </a:txBody>
                  <a:tcPr marL="137160" marR="137160" marT="36576" marB="36576"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1EEE8"/>
                    </a:solidFill>
                  </a:tcPr>
                </a:tc>
                <a:tc>
                  <a:txBody>
                    <a:bodyPr/>
                    <a:lstStyle/>
                    <a:p>
                      <a:pPr algn="l" indent="0" marL="0">
                        <a:buNone/>
                      </a:pPr>
                      <a:r>
                        <a:rPr lang="en-US" sz="1400" dirty="0">
                          <a:solidFill>
                            <a:srgbClr val="1A1714"/>
                          </a:solidFill>
                          <a:latin typeface="Calibri" pitchFamily="34" charset="0"/>
                          <a:ea typeface="Calibri" pitchFamily="34" charset="-122"/>
                          <a:cs typeface="Calibri" pitchFamily="34" charset="-120"/>
                        </a:rPr>
                        <a:t>Sửa lỗi hiển thị, hoàn nguyên landing, tư vấn nối ERP và tính năng nâng cao</a:t>
                      </a:r>
                      <a:endParaRPr lang="en-US" sz="1400" dirty="0">
                        <a:latin typeface="Calibri" charset="0"/>
                        <a:ea typeface="Calibri" charset="0"/>
                        <a:cs typeface="Calibri" charset="0"/>
                      </a:endParaRPr>
                    </a:p>
                  </a:txBody>
                  <a:tcPr marL="137160" marR="137160" marT="36576" marB="36576" anchor="ctr">
                    <a:lnL w="9525" cap="flat" cmpd="sng" algn="ctr">
                      <a:solidFill>
                        <a:srgbClr val="D9D4CA"/>
                      </a:solidFill>
                      <a:prstDash val="solid"/>
                      <a:round/>
                      <a:headEnd type="none" w="med" len="med"/>
                      <a:tailEnd type="none" w="med" len="med"/>
                    </a:lnL>
                    <a:lnR w="9525" cap="flat" cmpd="sng" algn="ctr">
                      <a:solidFill>
                        <a:srgbClr val="D9D4CA"/>
                      </a:solidFill>
                      <a:prstDash val="solid"/>
                      <a:round/>
                      <a:headEnd type="none" w="med" len="med"/>
                      <a:tailEnd type="none" w="med" len="med"/>
                    </a:lnR>
                    <a:lnT w="9525" cap="flat" cmpd="sng" algn="ctr">
                      <a:solidFill>
                        <a:srgbClr val="D9D4CA"/>
                      </a:solidFill>
                      <a:prstDash val="solid"/>
                      <a:round/>
                      <a:headEnd type="none" w="med" len="med"/>
                      <a:tailEnd type="none" w="med" len="med"/>
                    </a:lnT>
                    <a:lnB w="9525" cap="flat" cmpd="sng" algn="ctr">
                      <a:solidFill>
                        <a:srgbClr val="D9D4C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25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êu đề"/>
          <p:cNvSpPr txBox="1"/>
          <p:nvPr/>
        </p:nvSpPr>
        <p:spPr>
          <a:xfrm>
            <a:off x="548640" y="365760"/>
            <a:ext cx="1106424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Kết quả và hướng phát triển</a:t>
            </a:r>
            <a:endParaRPr lang="en-US" sz="3400" dirty="0"/>
          </a:p>
        </p:txBody>
      </p:sp>
      <p:sp>
        <p:nvSpPr>
          <p:cNvPr id="3" name="Thẻ Kết quả"/>
          <p:cNvSpPr/>
          <p:nvPr/>
        </p:nvSpPr>
        <p:spPr>
          <a:xfrm>
            <a:off x="548640" y="1371600"/>
            <a:ext cx="3566160" cy="3931920"/>
          </a:xfrm>
          <a:prstGeom prst="roundRect">
            <a:avLst>
              <a:gd name="adj" fmla="val 3077"/>
            </a:avLst>
          </a:prstGeom>
          <a:solidFill>
            <a:srgbClr val="2A2520"/>
          </a:solidFill>
          <a:ln w="12700">
            <a:solidFill>
              <a:srgbClr val="2A2520"/>
            </a:solidFill>
            <a:prstDash val="solid"/>
          </a:ln>
        </p:spPr>
      </p:sp>
      <p:sp>
        <p:nvSpPr>
          <p:cNvPr id="4" name="Text 2"/>
          <p:cNvSpPr txBox="1"/>
          <p:nvPr/>
        </p:nvSpPr>
        <p:spPr>
          <a:xfrm>
            <a:off x="777240" y="1508760"/>
            <a:ext cx="3108960" cy="457200"/>
          </a:xfrm>
          <a:prstGeom prst="rect">
            <a:avLst/>
          </a:prstGeom>
          <a:noFill/>
          <a:ln/>
        </p:spPr>
        <p:txBody>
          <a:bodyPr wrap="square" lIns="0" tIns="0" rIns="0" bIns="0" rtlCol="0" anchor="ctr"/>
          <a:lstStyle/>
          <a:p>
            <a:pPr indent="0" marL="0">
              <a:buNone/>
            </a:pPr>
            <a:r>
              <a:rPr lang="en-US" sz="2200" b="1" dirty="0">
                <a:solidFill>
                  <a:srgbClr val="D9C7AE"/>
                </a:solidFill>
                <a:latin typeface="Cambria" pitchFamily="34" charset="0"/>
                <a:ea typeface="Cambria" pitchFamily="34" charset="-122"/>
                <a:cs typeface="Cambria" pitchFamily="34" charset="-120"/>
              </a:rPr>
              <a:t>Kết quả</a:t>
            </a:r>
            <a:endParaRPr lang="en-US" sz="2200" dirty="0"/>
          </a:p>
        </p:txBody>
      </p:sp>
      <p:sp>
        <p:nvSpPr>
          <p:cNvPr id="5" name="Text 3"/>
          <p:cNvSpPr txBox="1"/>
          <p:nvPr/>
        </p:nvSpPr>
        <p:spPr>
          <a:xfrm>
            <a:off x="777240" y="2103120"/>
            <a:ext cx="3108960" cy="310896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F1EEE8"/>
                </a:solidFill>
                <a:latin typeface="Calibri" pitchFamily="34" charset="0"/>
                <a:ea typeface="Calibri" pitchFamily="34" charset="-122"/>
                <a:cs typeface="Calibri" pitchFamily="34" charset="-120"/>
              </a:rPr>
              <a:t>Website 4 trang chạy thật trên GitHub Pages</a:t>
            </a:r>
            <a:endParaRPr lang="en-US" sz="1600" dirty="0"/>
          </a:p>
          <a:p>
            <a:pPr marL="342900" indent="-342900">
              <a:spcAft>
                <a:spcPts val="900"/>
              </a:spcAft>
              <a:buSzPct val="100000"/>
              <a:buChar char="•"/>
            </a:pPr>
            <a:r>
              <a:rPr lang="en-US" sz="1600" dirty="0">
                <a:solidFill>
                  <a:srgbClr val="F1EEE8"/>
                </a:solidFill>
                <a:latin typeface="Calibri" pitchFamily="34" charset="0"/>
                <a:ea typeface="Calibri" pitchFamily="34" charset="-122"/>
                <a:cs typeface="Calibri" pitchFamily="34" charset="-120"/>
              </a:rPr>
              <a:t>Báo giá theo MOQ ghi vào Google Sheet, có email và mã QR</a:t>
            </a:r>
            <a:endParaRPr lang="en-US" sz="1600" dirty="0"/>
          </a:p>
          <a:p>
            <a:pPr marL="342900" indent="-342900">
              <a:spcAft>
                <a:spcPts val="900"/>
              </a:spcAft>
              <a:buSzPct val="100000"/>
              <a:buChar char="•"/>
            </a:pPr>
            <a:r>
              <a:rPr lang="en-US" sz="1600" dirty="0">
                <a:solidFill>
                  <a:srgbClr val="F1EEE8"/>
                </a:solidFill>
                <a:latin typeface="Calibri" pitchFamily="34" charset="0"/>
                <a:ea typeface="Calibri" pitchFamily="34" charset="-122"/>
                <a:cs typeface="Calibri" pitchFamily="34" charset="-120"/>
              </a:rPr>
              <a:t>Thuần HTML, CSS, JS, mở thẳng file là chạy</a:t>
            </a:r>
            <a:endParaRPr lang="en-US" sz="1600" dirty="0"/>
          </a:p>
          <a:p>
            <a:pPr marL="342900" indent="-342900">
              <a:spcAft>
                <a:spcPts val="900"/>
              </a:spcAft>
              <a:buSzPct val="100000"/>
              <a:buChar char="•"/>
            </a:pPr>
            <a:r>
              <a:rPr lang="en-US" sz="1600" dirty="0">
                <a:solidFill>
                  <a:srgbClr val="F1EEE8"/>
                </a:solidFill>
                <a:latin typeface="Calibri" pitchFamily="34" charset="0"/>
                <a:ea typeface="Calibri" pitchFamily="34" charset="-122"/>
                <a:cs typeface="Calibri" pitchFamily="34" charset="-120"/>
              </a:rPr>
              <a:t>Mã nguồn và nhật ký prompt công khai trên GitHub</a:t>
            </a:r>
            <a:endParaRPr lang="en-US" sz="1600" dirty="0"/>
          </a:p>
        </p:txBody>
      </p:sp>
      <p:sp>
        <p:nvSpPr>
          <p:cNvPr id="6" name="Thẻ Hạn chế"/>
          <p:cNvSpPr/>
          <p:nvPr/>
        </p:nvSpPr>
        <p:spPr>
          <a:xfrm>
            <a:off x="4297680" y="1371600"/>
            <a:ext cx="3566160" cy="3931920"/>
          </a:xfrm>
          <a:prstGeom prst="roundRect">
            <a:avLst>
              <a:gd name="adj" fmla="val 3077"/>
            </a:avLst>
          </a:prstGeom>
          <a:solidFill>
            <a:srgbClr val="2A2520"/>
          </a:solidFill>
          <a:ln w="12700">
            <a:solidFill>
              <a:srgbClr val="2A2520"/>
            </a:solidFill>
            <a:prstDash val="solid"/>
          </a:ln>
        </p:spPr>
      </p:sp>
      <p:sp>
        <p:nvSpPr>
          <p:cNvPr id="7" name="Text 5"/>
          <p:cNvSpPr txBox="1"/>
          <p:nvPr/>
        </p:nvSpPr>
        <p:spPr>
          <a:xfrm>
            <a:off x="4526280" y="1508760"/>
            <a:ext cx="3108960" cy="457200"/>
          </a:xfrm>
          <a:prstGeom prst="rect">
            <a:avLst/>
          </a:prstGeom>
          <a:noFill/>
          <a:ln/>
        </p:spPr>
        <p:txBody>
          <a:bodyPr wrap="square" lIns="0" tIns="0" rIns="0" bIns="0" rtlCol="0" anchor="ctr"/>
          <a:lstStyle/>
          <a:p>
            <a:pPr indent="0" marL="0">
              <a:buNone/>
            </a:pPr>
            <a:r>
              <a:rPr lang="en-US" sz="2200" b="1" dirty="0">
                <a:solidFill>
                  <a:srgbClr val="D9C7AE"/>
                </a:solidFill>
                <a:latin typeface="Cambria" pitchFamily="34" charset="0"/>
                <a:ea typeface="Cambria" pitchFamily="34" charset="-122"/>
                <a:cs typeface="Cambria" pitchFamily="34" charset="-120"/>
              </a:rPr>
              <a:t>Hạn chế</a:t>
            </a:r>
            <a:endParaRPr lang="en-US" sz="2200" dirty="0"/>
          </a:p>
        </p:txBody>
      </p:sp>
      <p:sp>
        <p:nvSpPr>
          <p:cNvPr id="8" name="Text 6"/>
          <p:cNvSpPr txBox="1"/>
          <p:nvPr/>
        </p:nvSpPr>
        <p:spPr>
          <a:xfrm>
            <a:off x="4526280" y="2103120"/>
            <a:ext cx="3108960" cy="310896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F1EEE8"/>
                </a:solidFill>
                <a:latin typeface="Calibri" pitchFamily="34" charset="0"/>
                <a:ea typeface="Calibri" pitchFamily="34" charset="-122"/>
                <a:cs typeface="Calibri" pitchFamily="34" charset="-120"/>
              </a:rPr>
              <a:t>Link Apps Script công khai, chỉ chống spam ở mức cơ bản</a:t>
            </a:r>
            <a:endParaRPr lang="en-US" sz="1600" dirty="0"/>
          </a:p>
          <a:p>
            <a:pPr marL="342900" indent="-342900">
              <a:spcAft>
                <a:spcPts val="900"/>
              </a:spcAft>
              <a:buSzPct val="100000"/>
              <a:buChar char="•"/>
            </a:pPr>
            <a:r>
              <a:rPr lang="en-US" sz="1600" dirty="0">
                <a:solidFill>
                  <a:srgbClr val="F1EEE8"/>
                </a:solidFill>
                <a:latin typeface="Calibri" pitchFamily="34" charset="0"/>
                <a:ea typeface="Calibri" pitchFamily="34" charset="-122"/>
                <a:cs typeface="Calibri" pitchFamily="34" charset="-120"/>
              </a:rPr>
              <a:t>Mã QR được vẽ nhờ dịch vụ quickchart.io (gửi họ tên và mã)</a:t>
            </a:r>
            <a:endParaRPr lang="en-US" sz="1600" dirty="0"/>
          </a:p>
          <a:p>
            <a:pPr marL="342900" indent="-342900">
              <a:spcAft>
                <a:spcPts val="900"/>
              </a:spcAft>
              <a:buSzPct val="100000"/>
              <a:buChar char="•"/>
            </a:pPr>
            <a:r>
              <a:rPr lang="en-US" sz="1600" dirty="0">
                <a:solidFill>
                  <a:srgbClr val="F1EEE8"/>
                </a:solidFill>
                <a:latin typeface="Calibri" pitchFamily="34" charset="0"/>
                <a:ea typeface="Calibri" pitchFamily="34" charset="-122"/>
                <a:cs typeface="Calibri" pitchFamily="34" charset="-120"/>
              </a:rPr>
              <a:t>Dữ liệu sản phẩm và ảnh là mẫu minh họa</a:t>
            </a:r>
            <a:endParaRPr lang="en-US" sz="1600" dirty="0"/>
          </a:p>
        </p:txBody>
      </p:sp>
      <p:sp>
        <p:nvSpPr>
          <p:cNvPr id="9" name="Thẻ Hướng phát triển"/>
          <p:cNvSpPr/>
          <p:nvPr/>
        </p:nvSpPr>
        <p:spPr>
          <a:xfrm>
            <a:off x="8046720" y="1371600"/>
            <a:ext cx="3566160" cy="3931920"/>
          </a:xfrm>
          <a:prstGeom prst="roundRect">
            <a:avLst>
              <a:gd name="adj" fmla="val 3077"/>
            </a:avLst>
          </a:prstGeom>
          <a:solidFill>
            <a:srgbClr val="2A2520"/>
          </a:solidFill>
          <a:ln w="12700">
            <a:solidFill>
              <a:srgbClr val="2A2520"/>
            </a:solidFill>
            <a:prstDash val="solid"/>
          </a:ln>
        </p:spPr>
      </p:sp>
      <p:sp>
        <p:nvSpPr>
          <p:cNvPr id="10" name="Text 8"/>
          <p:cNvSpPr txBox="1"/>
          <p:nvPr/>
        </p:nvSpPr>
        <p:spPr>
          <a:xfrm>
            <a:off x="8275320" y="1508760"/>
            <a:ext cx="3108960" cy="457200"/>
          </a:xfrm>
          <a:prstGeom prst="rect">
            <a:avLst/>
          </a:prstGeom>
          <a:noFill/>
          <a:ln/>
        </p:spPr>
        <p:txBody>
          <a:bodyPr wrap="square" lIns="0" tIns="0" rIns="0" bIns="0" rtlCol="0" anchor="ctr"/>
          <a:lstStyle/>
          <a:p>
            <a:pPr indent="0" marL="0">
              <a:buNone/>
            </a:pPr>
            <a:r>
              <a:rPr lang="en-US" sz="2200" b="1" dirty="0">
                <a:solidFill>
                  <a:srgbClr val="D9C7AE"/>
                </a:solidFill>
                <a:latin typeface="Cambria" pitchFamily="34" charset="0"/>
                <a:ea typeface="Cambria" pitchFamily="34" charset="-122"/>
                <a:cs typeface="Cambria" pitchFamily="34" charset="-120"/>
              </a:rPr>
              <a:t>Hướng phát triển</a:t>
            </a:r>
            <a:endParaRPr lang="en-US" sz="2200" dirty="0"/>
          </a:p>
        </p:txBody>
      </p:sp>
      <p:sp>
        <p:nvSpPr>
          <p:cNvPr id="11" name="Text 9"/>
          <p:cNvSpPr txBox="1"/>
          <p:nvPr/>
        </p:nvSpPr>
        <p:spPr>
          <a:xfrm>
            <a:off x="8275320" y="2103120"/>
            <a:ext cx="3108960" cy="310896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F1EEE8"/>
                </a:solidFill>
                <a:latin typeface="Calibri" pitchFamily="34" charset="0"/>
                <a:ea typeface="Calibri" pitchFamily="34" charset="-122"/>
                <a:cs typeface="Calibri" pitchFamily="34" charset="-120"/>
              </a:rPr>
              <a:t>Nối với hệ thống ERP nội thất: báo giá thành lead, giá và tồn kho lấy từ ERP</a:t>
            </a:r>
            <a:endParaRPr lang="en-US" sz="1600" dirty="0"/>
          </a:p>
          <a:p>
            <a:pPr marL="342900" indent="-342900">
              <a:spcAft>
                <a:spcPts val="900"/>
              </a:spcAft>
              <a:buSzPct val="100000"/>
              <a:buChar char="•"/>
            </a:pPr>
            <a:r>
              <a:rPr lang="en-US" sz="1600" dirty="0">
                <a:solidFill>
                  <a:srgbClr val="F1EEE8"/>
                </a:solidFill>
                <a:latin typeface="Calibri" pitchFamily="34" charset="0"/>
                <a:ea typeface="Calibri" pitchFamily="34" charset="-122"/>
                <a:cs typeface="Calibri" pitchFamily="34" charset="-120"/>
              </a:rPr>
              <a:t>Xuất báo giá PDF, so sánh sản phẩm</a:t>
            </a:r>
            <a:endParaRPr lang="en-US" sz="1600" dirty="0"/>
          </a:p>
          <a:p>
            <a:pPr marL="342900" indent="-342900">
              <a:spcAft>
                <a:spcPts val="900"/>
              </a:spcAft>
              <a:buSzPct val="100000"/>
              <a:buChar char="•"/>
            </a:pPr>
            <a:r>
              <a:rPr lang="en-US" sz="1600" dirty="0">
                <a:solidFill>
                  <a:srgbClr val="F1EEE8"/>
                </a:solidFill>
                <a:latin typeface="Calibri" pitchFamily="34" charset="0"/>
                <a:ea typeface="Calibri" pitchFamily="34" charset="-122"/>
                <a:cs typeface="Calibri" pitchFamily="34" charset="-120"/>
              </a:rPr>
              <a:t>PWA chạy khi mất mạng</a:t>
            </a:r>
            <a:endParaRPr lang="en-US" sz="1600" dirty="0"/>
          </a:p>
        </p:txBody>
      </p:sp>
      <p:sp>
        <p:nvSpPr>
          <p:cNvPr id="12" name="Text 10"/>
          <p:cNvSpPr txBox="1"/>
          <p:nvPr/>
        </p:nvSpPr>
        <p:spPr>
          <a:xfrm>
            <a:off x="548640" y="5623560"/>
            <a:ext cx="7315200" cy="45720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Xin cảm ơn thầy và các bạn đã lắng nghe</a:t>
            </a:r>
            <a:endParaRPr lang="en-US" sz="1800" dirty="0"/>
          </a:p>
        </p:txBody>
      </p:sp>
      <p:sp>
        <p:nvSpPr>
          <p:cNvPr id="13" name="Text 11">
            <a:hlinkClick r:id="rId1" tooltip=""/>
          </p:cNvPr>
          <p:cNvSpPr txBox="1"/>
          <p:nvPr/>
        </p:nvSpPr>
        <p:spPr>
          <a:xfrm>
            <a:off x="6583680" y="5623560"/>
            <a:ext cx="5029200" cy="457200"/>
          </a:xfrm>
          <a:prstGeom prst="rect">
            <a:avLst/>
          </a:prstGeom>
          <a:noFill/>
          <a:ln/>
        </p:spPr>
        <p:txBody>
          <a:bodyPr wrap="square" lIns="0" tIns="0" rIns="0" bIns="0" rtlCol="0" anchor="ctr"/>
          <a:lstStyle/>
          <a:p>
            <a:pPr algn="r" indent="0" marL="0">
              <a:buNone/>
            </a:pPr>
            <a:r>
              <a:rPr lang="en-US" sz="1400" u="sng" dirty="0">
                <a:solidFill>
                  <a:srgbClr val="D9C7A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github.com/nguyenphat006/Phat_NguyenDang_526000162</a:t>
            </a:r>
            <a:endParaRPr lang="en-US" sz="1400" dirty="0"/>
          </a:p>
        </p:txBody>
      </p:sp>
    </p:spTree>
  </p:cSld>
  <p:clrMapOvr>
    <a:masterClrMapping/>
  </p:clrMapOvr>
</p:sld>
</file>

<file path=ppt/theme/theme1.xml><?xml version="1.0" encoding="utf-8"?>
<a:theme xmlns:a="http://schemas.openxmlformats.org/drawingml/2006/main" name="Ericss Furniture">
  <a:themeElements>
    <a:clrScheme name="Ericss Furniture">
      <a:dk1>
        <a:srgbClr val="1A1714"/>
      </a:dk1>
      <a:lt1>
        <a:srgbClr val="FFFFFF"/>
      </a:lt1>
      <a:dk2>
        <a:srgbClr val="5B3A1B"/>
      </a:dk2>
      <a:lt2>
        <a:srgbClr val="F1EEE8"/>
      </a:lt2>
      <a:accent1>
        <a:srgbClr val="8B5A2B"/>
      </a:accent1>
      <a:accent2>
        <a:srgbClr val="2F6B3A"/>
      </a:accent2>
      <a:accent3>
        <a:srgbClr val="B3402F"/>
      </a:accent3>
      <a:accent4>
        <a:srgbClr val="6B6258"/>
      </a:accent4>
      <a:accent5>
        <a:srgbClr val="D9C7AE"/>
      </a:accent5>
      <a:accent6>
        <a:srgbClr val="2A4A8A"/>
      </a:accent6>
      <a:hlink>
        <a:srgbClr val="8B5A2B"/>
      </a:hlink>
      <a:folHlink>
        <a:srgbClr val="6B6258"/>
      </a:folHlink>
    </a:clrScheme>
    <a:fontScheme name="Ericss Furnitu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Ericss Furniture - Báo cáo giữa kỳ Thiết kế Web</dc:title>
  <dc:subject>PptxGenJS Presentation</dc:subject>
  <dc:creator>Nguyễn Đăng Phát</dc:creator>
  <cp:lastModifiedBy>Nguyễn Đăng Phát</cp:lastModifiedBy>
  <cp:revision>1</cp:revision>
  <dcterms:created xsi:type="dcterms:W3CDTF">2026-10-21T11:55:59Z</dcterms:created>
  <dcterms:modified xsi:type="dcterms:W3CDTF">2026-10-21T11:55:59Z</dcterms:modified>
</cp:coreProperties>
</file>