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Em là Nguyễn Đăng Phát. Em xin trình bày website Ericss Furniture, bài thi môn Thiết kế Web. Website đã chạy thật trên GitHub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là website cho một xưởng nội thất ngoài trời. Tên thương hiệu là giả định, em không dùng thông tin của doanh nghiệp thật. Điểm khác với một landing thông thường là khách có thể ước giá và gửi báo giá theo MOQ.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có bốn trang tách riêng thay vì một trang dài. Ba trang sau dùng chung header, giỏ báo giá và chân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chủ dùng bảng màu trắng, đen và nâu cognac để tạo cảm giác cao cấp, không đại trà. Các hiệu ứng đều tắt khi người dùng chọn giảm chuyển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sản phẩm có mã SKU và MOQ riêng của xưởng. Việc tìm kiếm không phân biệt dấu nên gõ "ghe" vẫn ra "ghế".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năng so sánh giúp khách hàng B2B chọn nhanh giữa các mẫu: so giá, MOQ và thời gian giao. Ô tốt nhất chỉ được tô khi các mẫu thực sự khác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Chiết khấu số lượng có ba bậc: từ 5 sản phẩm giảm 3 phần trăm, từ 10 giảm 5, từ 20 giảm 8. Mã giảm giá được tính sau chiết khấu. Toàn bộ phép tính là hàm thuần nên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Yêu cầu được lưu cục bộ trước rồi mới gửi. Bảng Google Sheet có cột tiếng Việt, hàng tiêu đề cố định và cột trạng thái để theo dõi xử lý. Phần chống spam nằm trong Apps Script vì link công khai, ai cũng gọi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ước giá dùng cùng hàm tính giá với biểu mẫu báo giá nên hai nơi luôn ra cùng một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người dùng lưu trong localStorage. Em đã thay nút xuất JSON bằng xuất Excel để dễ dùng với người không rành kỹ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Chuỗi dịch nằm trong bảng dữ liệu, trang chỉ có tiếng Việt trong HTML và được thay bằng tiếng Anh khi bấm EN. Không có thanh cuộn ngang trên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viết phần pháp lý theo đúng cách website xử lý dữ liệu, không bịa thông tin doanh nghiệp. Hai hộp thoại nằm ở cả bốn trang và có bản tiếng 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đối chiếu từng yêu cầu của đề với cách em áp dụng. Toàn bộ là HTML, CSS, JavaScript thuần, không dùng framework hay công cụ build, và mở thẳng file index.html cũng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tách khỏi mã: bảng JSON ở thư mục data, các hàm tính toán thuần ở các mô-đun, phần giao diện chỉ gọi lại chúng. Nhờ vậy dễ sửa giá và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Mốc ngày lấy từ lịch sử commit trên GitHub. Mỗi vòng là một yêu cầu cụ thể, được commit, tự deploy rồi kiểm tra trên trang thật trước khi sang vòng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làm một mình nên phân công theo vai: em quyết định và kiểm tra, AI viết mã. Mọi quyết định đổi hướng đều do em đưa ra sau khi xem kết quả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trong PROMPT_LOG có bốn phần: prompt đã dùng, kết quả AI tạo ra, thách thức gặp phải và cách sửa prompt. Ở đây em chỉ tóm theo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dừng phần trình bày ở đây. Em sẵn sàng trả lời câu hỏi và chạy thử website trực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6B6258"/>
                </a:solidFill>
              </a:rPr>
              <a:t>Ericss Furniture  ·  Báo cáo bài thi Thiết kế Web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7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nguyenphat006.github.io/Phat_NguyenDang_526000162/" TargetMode="External"/><Relationship Id="rId2" Type="http://schemas.openxmlformats.org/officeDocument/2006/relationships/image" Target="../media/image-1-1.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nguyenphat006/Phat_NguyenDang_526000162" TargetMode="Externa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hãn"/>
          <p:cNvSpPr txBox="1"/>
          <p:nvPr/>
        </p:nvSpPr>
        <p:spPr>
          <a:xfrm>
            <a:off x="548640" y="640080"/>
            <a:ext cx="5486400" cy="365760"/>
          </a:xfrm>
          <a:prstGeom prst="rect">
            <a:avLst/>
          </a:prstGeom>
          <a:noFill/>
          <a:ln/>
        </p:spPr>
        <p:txBody>
          <a:bodyPr wrap="square" lIns="0" tIns="0" rIns="0" bIns="0" rtlCol="0" anchor="ctr"/>
          <a:lstStyle/>
          <a:p>
            <a:pPr indent="0" marL="0">
              <a:buNone/>
            </a:pPr>
            <a:r>
              <a:rPr lang="en-US" sz="1600" spc="300" kern="0" dirty="0">
                <a:solidFill>
                  <a:srgbClr val="D9C7AE"/>
                </a:solidFill>
                <a:latin typeface="Calibri" pitchFamily="34" charset="0"/>
                <a:ea typeface="Calibri" pitchFamily="34" charset="-122"/>
                <a:cs typeface="Calibri" pitchFamily="34" charset="-120"/>
              </a:rPr>
              <a:t>Báo cáo bài thi · Thiết kế Web</a:t>
            </a:r>
            <a:endParaRPr lang="en-US" sz="1600" dirty="0"/>
          </a:p>
        </p:txBody>
      </p:sp>
      <p:sp>
        <p:nvSpPr>
          <p:cNvPr id="3" name="Tên dự án"/>
          <p:cNvSpPr txBox="1"/>
          <p:nvPr/>
        </p:nvSpPr>
        <p:spPr>
          <a:xfrm>
            <a:off x="548640" y="13716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Ericss Furniture</a:t>
            </a:r>
            <a:endParaRPr lang="en-US" sz="5400" dirty="0"/>
          </a:p>
        </p:txBody>
      </p:sp>
      <p:sp>
        <p:nvSpPr>
          <p:cNvPr id="4" name="Mô tả"/>
          <p:cNvSpPr txBox="1"/>
          <p:nvPr/>
        </p:nvSpPr>
        <p:spPr>
          <a:xfrm>
            <a:off x="548640" y="2468880"/>
            <a:ext cx="5303520" cy="1097280"/>
          </a:xfrm>
          <a:prstGeom prst="rect">
            <a:avLst/>
          </a:prstGeom>
          <a:noFill/>
          <a:ln/>
        </p:spPr>
        <p:txBody>
          <a:bodyPr wrap="square" lIns="0" tIns="0" rIns="0" bIns="0" rtlCol="0" anchor="ctr"/>
          <a:lstStyle/>
          <a:p>
            <a:pPr indent="0" marL="0">
              <a:buNone/>
            </a:pPr>
            <a:r>
              <a:rPr lang="en-US" sz="2000" dirty="0">
                <a:solidFill>
                  <a:srgbClr val="F1EEE8"/>
                </a:solidFill>
                <a:latin typeface="Calibri" pitchFamily="34" charset="0"/>
                <a:ea typeface="Calibri" pitchFamily="34" charset="-122"/>
                <a:cs typeface="Calibri" pitchFamily="34" charset="-120"/>
              </a:rPr>
              <a:t>Website nhà sản xuất nội thất ngoài trời cao cấp, có ước giá và gửi yêu cầu báo giá theo MOQ</a:t>
            </a:r>
            <a:endParaRPr lang="en-US" sz="2000" dirty="0"/>
          </a:p>
        </p:txBody>
      </p:sp>
      <p:sp>
        <p:nvSpPr>
          <p:cNvPr id="5" name="Thông tin sinh viên"/>
          <p:cNvSpPr txBox="1"/>
          <p:nvPr/>
        </p:nvSpPr>
        <p:spPr>
          <a:xfrm>
            <a:off x="548640" y="4206240"/>
            <a:ext cx="5303520" cy="1005840"/>
          </a:xfrm>
          <a:prstGeom prst="rect">
            <a:avLst/>
          </a:prstGeom>
          <a:noFill/>
          <a:ln/>
        </p:spPr>
        <p:txBody>
          <a:bodyPr wrap="square" lIns="0" tIns="0" rIns="0" bIns="0" rtlCol="0" anchor="ctr"/>
          <a:lstStyle/>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Sinh viên: Nguyễn Đăng Phát</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MSSV: 526000162</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Trường Đại học Lạc Hồng</a:t>
            </a:r>
            <a:endParaRPr lang="en-US" sz="1600" dirty="0"/>
          </a:p>
        </p:txBody>
      </p:sp>
      <p:sp>
        <p:nvSpPr>
          <p:cNvPr id="6" name="Liên kết">
            <a:hlinkClick r:id="rId1" tooltip=""/>
          </p:cNvPr>
          <p:cNvSpPr txBox="1"/>
          <p:nvPr/>
        </p:nvSpPr>
        <p:spPr>
          <a:xfrm>
            <a:off x="548640" y="5760720"/>
            <a:ext cx="5669280" cy="320040"/>
          </a:xfrm>
          <a:prstGeom prst="rect">
            <a:avLst/>
          </a:prstGeom>
          <a:noFill/>
          <a:ln/>
        </p:spPr>
        <p:txBody>
          <a:bodyPr wrap="square" lIns="0" tIns="0" rIns="0" bIns="0" rtlCol="0" anchor="ctr"/>
          <a:lstStyle/>
          <a:p>
            <a:pPr indent="0" marL="0">
              <a:buNone/>
            </a:pPr>
            <a:r>
              <a:rPr lang="en-US" sz="14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nguyenphat006.github.io/Phat_NguyenDang_526000162</a:t>
            </a:r>
            <a:endParaRPr lang="en-US" sz="1400" dirty="0"/>
          </a:p>
        </p:txBody>
      </p:sp>
      <p:pic>
        <p:nvPicPr>
          <p:cNvPr id="7" name="Ảnh trang chủ" descr="C:\Users\ADMIN\AppData\Local\Temp\claude\D--Downloads-Phat-NguyenDang-526000162\875f87fc-f1f4-489a-b3be-9bbc7a956b54\scratchpad\deck/home.png">    </p:cNvPr>
          <p:cNvPicPr>
            <a:picLocks noChangeAspect="1"/>
          </p:cNvPicPr>
          <p:nvPr/>
        </p:nvPicPr>
        <p:blipFill>
          <a:blip r:embed="rId2"/>
          <a:stretch>
            <a:fillRect/>
          </a:stretch>
        </p:blipFill>
        <p:spPr>
          <a:xfrm>
            <a:off x="6355080" y="1463040"/>
            <a:ext cx="5486400" cy="3086100"/>
          </a:xfrm>
          <a:prstGeom prst="rect">
            <a:avLst/>
          </a:prstGeom>
          <a:effectLst>
            <a:outerShdw sx="100000" sy="100000" kx="0" ky="0" algn="bl" rotWithShape="0" blurRad="177800" dist="50800" dir="5400000">
              <a:srgbClr val="000000">
                <a:alpha val="50000"/>
              </a:srgbClr>
            </a:outerShdw>
          </a:effectLst>
        </p:spPr>
      </p:pic>
      <p:sp>
        <p:nvSpPr>
          <p:cNvPr id="8" name="Chú thích ảnh"/>
          <p:cNvSpPr txBox="1"/>
          <p:nvPr/>
        </p:nvSpPr>
        <p:spPr>
          <a:xfrm>
            <a:off x="6355080" y="4686300"/>
            <a:ext cx="5486400" cy="274320"/>
          </a:xfrm>
          <a:prstGeom prst="rect">
            <a:avLst/>
          </a:prstGeom>
          <a:noFill/>
          <a:ln/>
        </p:spPr>
        <p:txBody>
          <a:bodyPr wrap="square" lIns="0" tIns="0" rIns="0" bIns="0" rtlCol="0" anchor="ctr"/>
          <a:lstStyle/>
          <a:p>
            <a:pPr algn="ctr" indent="0" marL="0">
              <a:buNone/>
            </a:pPr>
            <a:r>
              <a:rPr lang="en-US" sz="1200" dirty="0">
                <a:solidFill>
                  <a:srgbClr val="D9C7AE"/>
                </a:solidFill>
                <a:latin typeface="Calibri" pitchFamily="34" charset="0"/>
                <a:ea typeface="Calibri" pitchFamily="34" charset="-122"/>
                <a:cs typeface="Calibri" pitchFamily="34" charset="-120"/>
              </a:rPr>
              <a:t>Trang chủ đang chạy trên GitHub Pages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Đề tài và mục tiêu</a:t>
            </a:r>
            <a:endParaRPr lang="en-US" sz="3400" dirty="0"/>
          </a:p>
        </p:txBody>
      </p:sp>
      <p:sp>
        <p:nvSpPr>
          <p:cNvPr id="3" name="Text 1"/>
          <p:cNvSpPr txBox="1"/>
          <p:nvPr/>
        </p:nvSpPr>
        <p:spPr>
          <a:xfrm>
            <a:off x="548640" y="1280160"/>
            <a:ext cx="6675120" cy="914400"/>
          </a:xfrm>
          <a:prstGeom prst="rect">
            <a:avLst/>
          </a:prstGeom>
          <a:noFill/>
          <a:ln/>
        </p:spPr>
        <p:txBody>
          <a:bodyPr wrap="square" lIns="0" tIns="0" rIns="0" bIns="0" rtlCol="0" anchor="ctr"/>
          <a:lstStyle/>
          <a:p>
            <a:pPr indent="0" marL="0">
              <a:buNone/>
            </a:pPr>
            <a:r>
              <a:rPr lang="en-US" sz="1800" dirty="0">
                <a:solidFill>
                  <a:schemeClr val="tx1"/>
                </a:solidFill>
                <a:latin typeface="Calibri" pitchFamily="34" charset="0"/>
                <a:ea typeface="Calibri" pitchFamily="34" charset="-122"/>
                <a:cs typeface="Calibri" pitchFamily="34" charset="-120"/>
              </a:rPr>
              <a:t>Ericss Furniture là thương hiệu giả định của một xưởng sản xuất nội thất ngoài trời cao cấp theo tiêu chuẩn châu Âu, làm từ teak, nhôm, dây thừng và mây nhựa.</a:t>
            </a:r>
            <a:endParaRPr lang="en-US" sz="1800" dirty="0"/>
          </a:p>
        </p:txBody>
      </p:sp>
      <p:sp>
        <p:nvSpPr>
          <p:cNvPr id="4" name="Text 2"/>
          <p:cNvSpPr txBox="1"/>
          <p:nvPr/>
        </p:nvSpPr>
        <p:spPr>
          <a:xfrm>
            <a:off x="548640" y="2286000"/>
            <a:ext cx="6675120" cy="914400"/>
          </a:xfrm>
          <a:prstGeom prst="rect">
            <a:avLst/>
          </a:prstGeom>
          <a:noFill/>
          <a:ln/>
        </p:spPr>
        <p:txBody>
          <a:bodyPr wrap="square" lIns="0" tIns="0" rIns="0" bIns="0" rtlCol="0" anchor="ctr"/>
          <a:lstStyle/>
          <a:p>
            <a:pPr indent="0" marL="0">
              <a:buNone/>
            </a:pPr>
            <a:r>
              <a:rPr lang="en-US" sz="1800" dirty="0">
                <a:solidFill>
                  <a:schemeClr val="accent4"/>
                </a:solidFill>
                <a:latin typeface="Calibri" pitchFamily="34" charset="0"/>
                <a:ea typeface="Calibri" pitchFamily="34" charset="-122"/>
                <a:cs typeface="Calibri" pitchFamily="34" charset="-120"/>
              </a:rPr>
              <a:t>Khách hàng chính là khách sạn, resort và nhà thầu: họ cần xem sản phẩm, biết số lượng đặt tối thiểu (MOQ), ước giá nhanh và gửi yêu cầu báo giá ngay trên website.</a:t>
            </a:r>
            <a:endParaRPr lang="en-US" sz="1800" dirty="0"/>
          </a:p>
        </p:txBody>
      </p:sp>
      <p:sp>
        <p:nvSpPr>
          <p:cNvPr id="5" name="Text 3"/>
          <p:cNvSpPr txBox="1"/>
          <p:nvPr/>
        </p:nvSpPr>
        <p:spPr>
          <a:xfrm>
            <a:off x="548640" y="3383280"/>
            <a:ext cx="6675120" cy="36576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Mục tiêu</a:t>
            </a:r>
            <a:endParaRPr lang="en-US" sz="2000" dirty="0"/>
          </a:p>
        </p:txBody>
      </p:sp>
      <p:sp>
        <p:nvSpPr>
          <p:cNvPr id="6" name="Text 4"/>
          <p:cNvSpPr txBox="1"/>
          <p:nvPr/>
        </p:nvSpPr>
        <p:spPr>
          <a:xfrm>
            <a:off x="548640" y="3794760"/>
            <a:ext cx="6675120" cy="23774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Giới thiệu thương hiệu, quy trình sản xuất và bốn chất liệu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Danh mục 26 sản phẩm, mỗi sản phẩm có SKU và MOQ riêng</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Ước giá và gửi yêu cầu báo giá, lưu vào Google Sheet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Đáp ứng đề: HTML5, CSS, JavaScript thuần, deploy bằng GitHub Actions</a:t>
            </a:r>
            <a:endParaRPr lang="en-US" sz="1600" dirty="0"/>
          </a:p>
        </p:txBody>
      </p:sp>
      <p:sp>
        <p:nvSpPr>
          <p:cNvPr id="7" name="Thẻ"/>
          <p:cNvSpPr/>
          <p:nvPr/>
        </p:nvSpPr>
        <p:spPr>
          <a:xfrm>
            <a:off x="7772400" y="1371600"/>
            <a:ext cx="1828800" cy="2103120"/>
          </a:xfrm>
          <a:prstGeom prst="roundRect">
            <a:avLst>
              <a:gd name="adj" fmla="val 6000"/>
            </a:avLst>
          </a:prstGeom>
          <a:solidFill>
            <a:srgbClr val="F1EEE8"/>
          </a:solidFill>
          <a:ln w="12700">
            <a:solidFill>
              <a:srgbClr val="F1EEE8"/>
            </a:solidFill>
            <a:prstDash val="solid"/>
          </a:ln>
        </p:spPr>
      </p:sp>
      <p:sp>
        <p:nvSpPr>
          <p:cNvPr id="8" name="Số liệu 4"/>
          <p:cNvSpPr txBox="1"/>
          <p:nvPr/>
        </p:nvSpPr>
        <p:spPr>
          <a:xfrm>
            <a:off x="777240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9" name="Text 7"/>
          <p:cNvSpPr txBox="1"/>
          <p:nvPr/>
        </p:nvSpPr>
        <p:spPr>
          <a:xfrm>
            <a:off x="790956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trang web</a:t>
            </a:r>
            <a:endParaRPr lang="en-US" sz="1500" dirty="0"/>
          </a:p>
        </p:txBody>
      </p:sp>
      <p:sp>
        <p:nvSpPr>
          <p:cNvPr id="10" name="Thẻ"/>
          <p:cNvSpPr/>
          <p:nvPr/>
        </p:nvSpPr>
        <p:spPr>
          <a:xfrm>
            <a:off x="9784080" y="1371600"/>
            <a:ext cx="1828800" cy="2103120"/>
          </a:xfrm>
          <a:prstGeom prst="roundRect">
            <a:avLst>
              <a:gd name="adj" fmla="val 6000"/>
            </a:avLst>
          </a:prstGeom>
          <a:solidFill>
            <a:srgbClr val="F1EEE8"/>
          </a:solidFill>
          <a:ln w="12700">
            <a:solidFill>
              <a:srgbClr val="F1EEE8"/>
            </a:solidFill>
            <a:prstDash val="solid"/>
          </a:ln>
        </p:spPr>
      </p:sp>
      <p:sp>
        <p:nvSpPr>
          <p:cNvPr id="11" name="Số liệu 26"/>
          <p:cNvSpPr txBox="1"/>
          <p:nvPr/>
        </p:nvSpPr>
        <p:spPr>
          <a:xfrm>
            <a:off x="978408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26</a:t>
            </a:r>
            <a:endParaRPr lang="en-US" sz="5400" dirty="0"/>
          </a:p>
        </p:txBody>
      </p:sp>
      <p:sp>
        <p:nvSpPr>
          <p:cNvPr id="12" name="Text 10"/>
          <p:cNvSpPr txBox="1"/>
          <p:nvPr/>
        </p:nvSpPr>
        <p:spPr>
          <a:xfrm>
            <a:off x="992124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sản phẩm mẫu</a:t>
            </a:r>
            <a:endParaRPr lang="en-US" sz="1500" dirty="0"/>
          </a:p>
        </p:txBody>
      </p:sp>
      <p:sp>
        <p:nvSpPr>
          <p:cNvPr id="13" name="Thẻ"/>
          <p:cNvSpPr/>
          <p:nvPr/>
        </p:nvSpPr>
        <p:spPr>
          <a:xfrm>
            <a:off x="7772400" y="3703320"/>
            <a:ext cx="1828800" cy="2103120"/>
          </a:xfrm>
          <a:prstGeom prst="roundRect">
            <a:avLst>
              <a:gd name="adj" fmla="val 6000"/>
            </a:avLst>
          </a:prstGeom>
          <a:solidFill>
            <a:srgbClr val="F1EEE8"/>
          </a:solidFill>
          <a:ln w="12700">
            <a:solidFill>
              <a:srgbClr val="F1EEE8"/>
            </a:solidFill>
            <a:prstDash val="solid"/>
          </a:ln>
        </p:spPr>
      </p:sp>
      <p:sp>
        <p:nvSpPr>
          <p:cNvPr id="14" name="Số liệu 2"/>
          <p:cNvSpPr txBox="1"/>
          <p:nvPr/>
        </p:nvSpPr>
        <p:spPr>
          <a:xfrm>
            <a:off x="777240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3"/>
          <p:cNvSpPr txBox="1"/>
          <p:nvPr/>
        </p:nvSpPr>
        <p:spPr>
          <a:xfrm>
            <a:off x="790956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ngôn ngữ Việt · Anh</a:t>
            </a:r>
            <a:endParaRPr lang="en-US" sz="1500" dirty="0"/>
          </a:p>
        </p:txBody>
      </p:sp>
      <p:sp>
        <p:nvSpPr>
          <p:cNvPr id="16" name="Thẻ"/>
          <p:cNvSpPr/>
          <p:nvPr/>
        </p:nvSpPr>
        <p:spPr>
          <a:xfrm>
            <a:off x="9784080" y="3703320"/>
            <a:ext cx="1828800" cy="2103120"/>
          </a:xfrm>
          <a:prstGeom prst="roundRect">
            <a:avLst>
              <a:gd name="adj" fmla="val 6000"/>
            </a:avLst>
          </a:prstGeom>
          <a:solidFill>
            <a:srgbClr val="F1EEE8"/>
          </a:solidFill>
          <a:ln w="12700">
            <a:solidFill>
              <a:srgbClr val="F1EEE8"/>
            </a:solidFill>
            <a:prstDash val="solid"/>
          </a:ln>
        </p:spPr>
      </p:sp>
      <p:sp>
        <p:nvSpPr>
          <p:cNvPr id="17" name="Số liệu 0"/>
          <p:cNvSpPr txBox="1"/>
          <p:nvPr/>
        </p:nvSpPr>
        <p:spPr>
          <a:xfrm>
            <a:off x="978408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18" name="Text 16"/>
          <p:cNvSpPr txBox="1"/>
          <p:nvPr/>
        </p:nvSpPr>
        <p:spPr>
          <a:xfrm>
            <a:off x="992124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framework, không build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Nội dung website: bốn trang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Menu chỉ gồm các trang; giỏ báo giá và chân trang (thông tin, pháp lý) dùng chung mọi trang</a:t>
            </a:r>
            <a:endParaRPr lang="en-US" sz="1600" dirty="0"/>
          </a:p>
        </p:txBody>
      </p:sp>
      <p:sp>
        <p:nvSpPr>
          <p:cNvPr id="4" name="Thẻ"/>
          <p:cNvSpPr/>
          <p:nvPr/>
        </p:nvSpPr>
        <p:spPr>
          <a:xfrm>
            <a:off x="548640" y="1691640"/>
            <a:ext cx="2651760" cy="4297680"/>
          </a:xfrm>
          <a:prstGeom prst="roundRect">
            <a:avLst>
              <a:gd name="adj" fmla="val 4138"/>
            </a:avLst>
          </a:prstGeom>
          <a:solidFill>
            <a:srgbClr val="F1EEE8"/>
          </a:solidFill>
          <a:ln w="12700">
            <a:solidFill>
              <a:srgbClr val="F1EEE8"/>
            </a:solidFill>
            <a:prstDash val="solid"/>
          </a:ln>
        </p:spPr>
      </p:sp>
      <p:pic>
        <p:nvPicPr>
          <p:cNvPr id="5" name="Ảnh Trang chủ" descr="C:\Users\ADMIN\AppData\Local\Temp\claude\D--Downloads-Phat-NguyenDang-526000162\875f87fc-f1f4-489a-b3be-9bbc7a956b54\scratchpad\deck/home.png">    </p:cNvPr>
          <p:cNvPicPr>
            <a:picLocks noChangeAspect="1"/>
          </p:cNvPicPr>
          <p:nvPr/>
        </p:nvPicPr>
        <p:blipFill>
          <a:blip r:embed="rId1"/>
          <a:stretch>
            <a:fillRect/>
          </a:stretch>
        </p:blipFill>
        <p:spPr>
          <a:xfrm>
            <a:off x="685800" y="1828800"/>
            <a:ext cx="2377440" cy="1337310"/>
          </a:xfrm>
          <a:prstGeom prst="rect">
            <a:avLst/>
          </a:prstGeom>
        </p:spPr>
      </p:pic>
      <p:sp>
        <p:nvSpPr>
          <p:cNvPr id="6" name="Text 3"/>
          <p:cNvSpPr txBox="1"/>
          <p:nvPr/>
        </p:nvSpPr>
        <p:spPr>
          <a:xfrm>
            <a:off x="73152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Trang chủ</a:t>
            </a:r>
            <a:endParaRPr lang="en-US" sz="2200" dirty="0"/>
          </a:p>
        </p:txBody>
      </p:sp>
      <p:sp>
        <p:nvSpPr>
          <p:cNvPr id="7" name="Text 4"/>
          <p:cNvSpPr txBox="1"/>
          <p:nvPr/>
        </p:nvSpPr>
        <p:spPr>
          <a:xfrm>
            <a:off x="73152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Giới thiệu, bốn chất liệu, quy trình 8 bước, thư viện ảnh</a:t>
            </a:r>
            <a:endParaRPr lang="en-US" sz="1500" dirty="0"/>
          </a:p>
        </p:txBody>
      </p:sp>
      <p:sp>
        <p:nvSpPr>
          <p:cNvPr id="8" name="Text 5"/>
          <p:cNvSpPr txBox="1"/>
          <p:nvPr/>
        </p:nvSpPr>
        <p:spPr>
          <a:xfrm>
            <a:off x="73152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index.html</a:t>
            </a:r>
            <a:endParaRPr lang="en-US" sz="1300" dirty="0"/>
          </a:p>
        </p:txBody>
      </p:sp>
      <p:sp>
        <p:nvSpPr>
          <p:cNvPr id="9" name="Thẻ"/>
          <p:cNvSpPr/>
          <p:nvPr/>
        </p:nvSpPr>
        <p:spPr>
          <a:xfrm>
            <a:off x="3383280" y="1691640"/>
            <a:ext cx="2651760" cy="4297680"/>
          </a:xfrm>
          <a:prstGeom prst="roundRect">
            <a:avLst>
              <a:gd name="adj" fmla="val 4138"/>
            </a:avLst>
          </a:prstGeom>
          <a:solidFill>
            <a:srgbClr val="F1EEE8"/>
          </a:solidFill>
          <a:ln w="12700">
            <a:solidFill>
              <a:srgbClr val="F1EEE8"/>
            </a:solidFill>
            <a:prstDash val="solid"/>
          </a:ln>
        </p:spPr>
      </p:sp>
      <p:pic>
        <p:nvPicPr>
          <p:cNvPr id="10" name="Ảnh Sản phẩm" descr="C:\Users\ADMIN\AppData\Local\Temp\claude\D--Downloads-Phat-NguyenDang-526000162\875f87fc-f1f4-489a-b3be-9bbc7a956b54\scratchpad\deck/products.png">    </p:cNvPr>
          <p:cNvPicPr>
            <a:picLocks noChangeAspect="1"/>
          </p:cNvPicPr>
          <p:nvPr/>
        </p:nvPicPr>
        <p:blipFill>
          <a:blip r:embed="rId2"/>
          <a:stretch>
            <a:fillRect/>
          </a:stretch>
        </p:blipFill>
        <p:spPr>
          <a:xfrm>
            <a:off x="3520440" y="1828800"/>
            <a:ext cx="2377440" cy="1337310"/>
          </a:xfrm>
          <a:prstGeom prst="rect">
            <a:avLst/>
          </a:prstGeom>
        </p:spPr>
      </p:pic>
      <p:sp>
        <p:nvSpPr>
          <p:cNvPr id="11" name="Text 7"/>
          <p:cNvSpPr txBox="1"/>
          <p:nvPr/>
        </p:nvSpPr>
        <p:spPr>
          <a:xfrm>
            <a:off x="356616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Sản phẩm</a:t>
            </a:r>
            <a:endParaRPr lang="en-US" sz="2200" dirty="0"/>
          </a:p>
        </p:txBody>
      </p:sp>
      <p:sp>
        <p:nvSpPr>
          <p:cNvPr id="12" name="Text 8"/>
          <p:cNvSpPr txBox="1"/>
          <p:nvPr/>
        </p:nvSpPr>
        <p:spPr>
          <a:xfrm>
            <a:off x="356616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26 sản phẩm, tìm, lọc, sắp xếp, giỏ, gửi báo giá</a:t>
            </a:r>
            <a:endParaRPr lang="en-US" sz="1500" dirty="0"/>
          </a:p>
        </p:txBody>
      </p:sp>
      <p:sp>
        <p:nvSpPr>
          <p:cNvPr id="13" name="Text 9"/>
          <p:cNvSpPr txBox="1"/>
          <p:nvPr/>
        </p:nvSpPr>
        <p:spPr>
          <a:xfrm>
            <a:off x="356616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products.html</a:t>
            </a:r>
            <a:endParaRPr lang="en-US" sz="1300" dirty="0"/>
          </a:p>
        </p:txBody>
      </p:sp>
      <p:sp>
        <p:nvSpPr>
          <p:cNvPr id="14" name="Thẻ"/>
          <p:cNvSpPr/>
          <p:nvPr/>
        </p:nvSpPr>
        <p:spPr>
          <a:xfrm>
            <a:off x="6217920" y="1691640"/>
            <a:ext cx="2651760" cy="4297680"/>
          </a:xfrm>
          <a:prstGeom prst="roundRect">
            <a:avLst>
              <a:gd name="adj" fmla="val 4138"/>
            </a:avLst>
          </a:prstGeom>
          <a:solidFill>
            <a:srgbClr val="F1EEE8"/>
          </a:solidFill>
          <a:ln w="12700">
            <a:solidFill>
              <a:srgbClr val="F1EEE8"/>
            </a:solidFill>
            <a:prstDash val="solid"/>
          </a:ln>
        </p:spPr>
      </p:sp>
      <p:pic>
        <p:nvPicPr>
          <p:cNvPr id="15" name="Ảnh Ước giá" descr="C:\Users\ADMIN\AppData\Local\Temp\claude\D--Downloads-Phat-NguyenDang-526000162\875f87fc-f1f4-489a-b3be-9bbc7a956b54\scratchpad\deck/estimator.png">    </p:cNvPr>
          <p:cNvPicPr>
            <a:picLocks noChangeAspect="1"/>
          </p:cNvPicPr>
          <p:nvPr/>
        </p:nvPicPr>
        <p:blipFill>
          <a:blip r:embed="rId3"/>
          <a:stretch>
            <a:fillRect/>
          </a:stretch>
        </p:blipFill>
        <p:spPr>
          <a:xfrm>
            <a:off x="6355080" y="1828800"/>
            <a:ext cx="2377440" cy="1337310"/>
          </a:xfrm>
          <a:prstGeom prst="rect">
            <a:avLst/>
          </a:prstGeom>
        </p:spPr>
      </p:pic>
      <p:sp>
        <p:nvSpPr>
          <p:cNvPr id="16" name="Text 11"/>
          <p:cNvSpPr txBox="1"/>
          <p:nvPr/>
        </p:nvSpPr>
        <p:spPr>
          <a:xfrm>
            <a:off x="640080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Ước giá</a:t>
            </a:r>
            <a:endParaRPr lang="en-US" sz="2200" dirty="0"/>
          </a:p>
        </p:txBody>
      </p:sp>
      <p:sp>
        <p:nvSpPr>
          <p:cNvPr id="17" name="Text 12"/>
          <p:cNvSpPr txBox="1"/>
          <p:nvPr/>
        </p:nvSpPr>
        <p:spPr>
          <a:xfrm>
            <a:off x="640080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Chọn loại, chất liệu, kích thước, số lượng để ra giá</a:t>
            </a:r>
            <a:endParaRPr lang="en-US" sz="1500" dirty="0"/>
          </a:p>
        </p:txBody>
      </p:sp>
      <p:sp>
        <p:nvSpPr>
          <p:cNvPr id="18" name="Text 13"/>
          <p:cNvSpPr txBox="1"/>
          <p:nvPr/>
        </p:nvSpPr>
        <p:spPr>
          <a:xfrm>
            <a:off x="640080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estimator.html</a:t>
            </a:r>
            <a:endParaRPr lang="en-US" sz="1300" dirty="0"/>
          </a:p>
        </p:txBody>
      </p:sp>
      <p:sp>
        <p:nvSpPr>
          <p:cNvPr id="19" name="Thẻ"/>
          <p:cNvSpPr/>
          <p:nvPr/>
        </p:nvSpPr>
        <p:spPr>
          <a:xfrm>
            <a:off x="9052560" y="1691640"/>
            <a:ext cx="2651760" cy="4297680"/>
          </a:xfrm>
          <a:prstGeom prst="roundRect">
            <a:avLst>
              <a:gd name="adj" fmla="val 4138"/>
            </a:avLst>
          </a:prstGeom>
          <a:solidFill>
            <a:srgbClr val="F1EEE8"/>
          </a:solidFill>
          <a:ln w="12700">
            <a:solidFill>
              <a:srgbClr val="F1EEE8"/>
            </a:solidFill>
            <a:prstDash val="solid"/>
          </a:ln>
        </p:spPr>
      </p:sp>
      <p:pic>
        <p:nvPicPr>
          <p:cNvPr id="20" name="Ảnh Liên hệ" descr="C:\Users\ADMIN\AppData\Local\Temp\claude\D--Downloads-Phat-NguyenDang-526000162\875f87fc-f1f4-489a-b3be-9bbc7a956b54\scratchpad\deck/contact.png">    </p:cNvPr>
          <p:cNvPicPr>
            <a:picLocks noChangeAspect="1"/>
          </p:cNvPicPr>
          <p:nvPr/>
        </p:nvPicPr>
        <p:blipFill>
          <a:blip r:embed="rId4"/>
          <a:stretch>
            <a:fillRect/>
          </a:stretch>
        </p:blipFill>
        <p:spPr>
          <a:xfrm>
            <a:off x="9189720" y="1828800"/>
            <a:ext cx="2377440" cy="1337310"/>
          </a:xfrm>
          <a:prstGeom prst="rect">
            <a:avLst/>
          </a:prstGeom>
        </p:spPr>
      </p:pic>
      <p:sp>
        <p:nvSpPr>
          <p:cNvPr id="21" name="Text 15"/>
          <p:cNvSpPr txBox="1"/>
          <p:nvPr/>
        </p:nvSpPr>
        <p:spPr>
          <a:xfrm>
            <a:off x="923544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Liên hệ</a:t>
            </a:r>
            <a:endParaRPr lang="en-US" sz="2200" dirty="0"/>
          </a:p>
        </p:txBody>
      </p:sp>
      <p:sp>
        <p:nvSpPr>
          <p:cNvPr id="22" name="Text 16"/>
          <p:cNvSpPr txBox="1"/>
          <p:nvPr/>
        </p:nvSpPr>
        <p:spPr>
          <a:xfrm>
            <a:off x="923544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Biểu mẫu báo giá, lịch sử yêu cầu, tải Excel</a:t>
            </a:r>
            <a:endParaRPr lang="en-US" sz="1500" dirty="0"/>
          </a:p>
        </p:txBody>
      </p:sp>
      <p:sp>
        <p:nvSpPr>
          <p:cNvPr id="23" name="Text 17"/>
          <p:cNvSpPr txBox="1"/>
          <p:nvPr/>
        </p:nvSpPr>
        <p:spPr>
          <a:xfrm>
            <a:off x="923544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contact.html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chủ: giới thiệu thương hiệu</a:t>
            </a:r>
            <a:endParaRPr lang="en-US" sz="3400" dirty="0"/>
          </a:p>
        </p:txBody>
      </p:sp>
      <p:sp>
        <p:nvSpPr>
          <p:cNvPr id="3" name="Khung ảnh home"/>
          <p:cNvSpPr/>
          <p:nvPr/>
        </p:nvSpPr>
        <p:spPr>
          <a:xfrm>
            <a:off x="512064" y="1335024"/>
            <a:ext cx="6291072" cy="357073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home" descr="C:\Users\ADMIN\AppData\Local\Temp\claude\D--Downloads-Phat-NguyenDang-526000162\875f87fc-f1f4-489a-b3be-9bbc7a956b54\scratchpad\deck/home.png">    </p:cNvPr>
          <p:cNvPicPr>
            <a:picLocks noChangeAspect="1"/>
          </p:cNvPicPr>
          <p:nvPr/>
        </p:nvPicPr>
        <p:blipFill>
          <a:blip r:embed="rId1"/>
          <a:stretch>
            <a:fillRect/>
          </a:stretch>
        </p:blipFill>
        <p:spPr>
          <a:xfrm>
            <a:off x="548640" y="1371600"/>
            <a:ext cx="6217920" cy="3497580"/>
          </a:xfrm>
          <a:prstGeom prst="rect">
            <a:avLst/>
          </a:prstGeom>
        </p:spPr>
      </p:pic>
      <p:pic>
        <p:nvPicPr>
          <p:cNvPr id="5" name="Ảnh quy trình" descr="C:\Users\ADMIN\AppData\Local\Temp\claude\D--Downloads-Phat-NguyenDang-526000162\875f87fc-f1f4-489a-b3be-9bbc7a956b54\scratchpad\deck/home_process.png">    </p:cNvPr>
          <p:cNvPicPr>
            <a:picLocks noChangeAspect="1"/>
          </p:cNvPicPr>
          <p:nvPr/>
        </p:nvPicPr>
        <p:blipFill>
          <a:blip r:embed="rId2"/>
          <a:stretch>
            <a:fillRect/>
          </a:stretch>
        </p:blipFill>
        <p:spPr>
          <a:xfrm>
            <a:off x="548640" y="5029200"/>
            <a:ext cx="1965960" cy="1105853"/>
          </a:xfrm>
          <a:prstGeom prst="rect">
            <a:avLst/>
          </a:prstGeom>
        </p:spPr>
      </p:pic>
      <p:pic>
        <p:nvPicPr>
          <p:cNvPr id="6" name="Ảnh bộ sưu tập" descr="C:\Users\ADMIN\AppData\Local\Temp\claude\D--Downloads-Phat-NguyenDang-526000162\875f87fc-f1f4-489a-b3be-9bbc7a956b54\scratchpad\deck/home_collections.png">    </p:cNvPr>
          <p:cNvPicPr>
            <a:picLocks noChangeAspect="1"/>
          </p:cNvPicPr>
          <p:nvPr/>
        </p:nvPicPr>
        <p:blipFill>
          <a:blip r:embed="rId3"/>
          <a:stretch>
            <a:fillRect/>
          </a:stretch>
        </p:blipFill>
        <p:spPr>
          <a:xfrm>
            <a:off x="2651760" y="5029200"/>
            <a:ext cx="1965960" cy="1105853"/>
          </a:xfrm>
          <a:prstGeom prst="rect">
            <a:avLst/>
          </a:prstGeom>
        </p:spPr>
      </p:pic>
      <p:pic>
        <p:nvPicPr>
          <p:cNvPr id="7" name="Ảnh xem ảnh lớn" descr="C:\Users\ADMIN\AppData\Local\Temp\claude\D--Downloads-Phat-NguyenDang-526000162\875f87fc-f1f4-489a-b3be-9bbc7a956b54\scratchpad\deck/lightbox.png">    </p:cNvPr>
          <p:cNvPicPr>
            <a:picLocks noChangeAspect="1"/>
          </p:cNvPicPr>
          <p:nvPr/>
        </p:nvPicPr>
        <p:blipFill>
          <a:blip r:embed="rId4"/>
          <a:stretch>
            <a:fillRect/>
          </a:stretch>
        </p:blipFill>
        <p:spPr>
          <a:xfrm>
            <a:off x="4754880" y="5029200"/>
            <a:ext cx="1965960" cy="1105853"/>
          </a:xfrm>
          <a:prstGeom prst="rect">
            <a:avLst/>
          </a:prstGeom>
        </p:spPr>
      </p:pic>
      <p:sp>
        <p:nvSpPr>
          <p:cNvPr id="8" name="Text 2"/>
          <p:cNvSpPr txBox="1"/>
          <p:nvPr/>
        </p:nvSpPr>
        <p:spPr>
          <a:xfrm>
            <a:off x="7223760" y="1371600"/>
            <a:ext cx="4480560" cy="475488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Hero: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tiêu đề lớn, hình vòm, hai nút kêu gọi hành động</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Băng số liệu: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năm thành lập, nhân sự, diện tích xưởng, chất liệu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Chấm điều hướng bên phải: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nhảy tới từng phần, có nhãn khi rê chuột (menu đầu trang chỉ chứa các trang)</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Bốn chất liệu: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mỗi thẻ dẫn thẳng sang danh mục đã lọc</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Quy trình 8 bước: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từ lựa gỗ đến hoàn thiện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Thư viện ảnh: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lọc theo chất liệu; bấm vào ảnh để xem lớn, lật bằng nút hoặc phím mũi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Hiệu ứng: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Animate.css, AOS, GSAP, vanilla-tilt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sản phẩm: 26 mẫu có SKU và MOQ</a:t>
            </a:r>
            <a:endParaRPr lang="en-US" sz="3400" dirty="0"/>
          </a:p>
        </p:txBody>
      </p:sp>
      <p:sp>
        <p:nvSpPr>
          <p:cNvPr id="3" name="Khung ảnh products_compar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products_compare" descr="C:\Users\ADMIN\AppData\Local\Temp\claude\D--Downloads-Phat-NguyenDang-526000162\875f87fc-f1f4-489a-b3be-9bbc7a956b54\scratchpad\deck/products_compar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36576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Tìm kiếm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theo tên, chất liệu hoặc SKU, không phân biệt dấu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Lọc và sắp xếp: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tối đa, giá,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Phân trang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nút "Xem thêm" (12 mẫu mỗi lần)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Yêu thích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và thêm vào giỏ báo giá, lưu trên thiết bị</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So sánh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tối đa 3 mẫu, xem cạnh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Mỗi thẻ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có MOQ xưởng và nút "Gửi báo giá"</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Dữ liệu sản phẩm nằm trong bảng JSON: muốn đổi giá hay thêm mẫu chỉ sửa dữ liệu, không sửa mã.</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 sánh sản phẩm</a:t>
            </a:r>
            <a:endParaRPr lang="en-US" sz="3400" dirty="0"/>
          </a:p>
        </p:txBody>
      </p:sp>
      <p:sp>
        <p:nvSpPr>
          <p:cNvPr id="3" name="Khung ảnh compare_tabl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ompare_table" descr="C:\Users\ADMIN\AppData\Local\Temp\claude\D--Downloads-Phat-NguyenDang-526000162\875f87fc-f1f4-489a-b3be-9bbc7a956b54\scratchpad\deck/compare_tabl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402336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Chọn tối đa 3 mẫu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ô "So sánh" trên thẻ; thanh so sánh hiện ở cuối màn hình</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Bảng cạnh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kích thước, MOQ, thời gian giao, mô tả</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Tô nổi giá trị tốt nhất: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giá thấp nhất, MOQ thấp nhất, giao nhanh nhất</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Chỉ hiện điểm khác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để bỏ các hàng giống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Từ bảng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gửi báo giá, thêm vào giỏ hoặc bỏ khỏi so sánh</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Lựa chọn được lưu trên thiết bị, tải lại trang vẫn còn; có cả tiếng Anh và giao diện điện thoại.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Biểu mẫu báo giá theo MOQ</a:t>
            </a:r>
            <a:endParaRPr lang="en-US" sz="3400" dirty="0"/>
          </a:p>
        </p:txBody>
      </p:sp>
      <p:sp>
        <p:nvSpPr>
          <p:cNvPr id="3" name="Khung ảnh dialog_filled"/>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dialog_filled" descr="C:\Users\ADMIN\AppData\Local\Temp\claude\D--Downloads-Phat-NguyenDang-526000162\875f87fc-f1f4-489a-b3be-9bbc7a956b54\scratchpad\deck/dialog_filled.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292608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Một biểu mẫu duy nhất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dùng cho hộp thoại ở trang Sản phẩm và trang Liên hệ</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sản phẩm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rồi nhập số lượng muốn đặt; so với MOQ xưởng để báo đạt hay chưa</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Gợi ý nhanh: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1×, 2×, 5× MOQ</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Tạm tính: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chiết khấu số lượng, mã giảm giá, VAT 10%</a:t>
            </a:r>
            <a:endParaRPr lang="en-US" sz="1600" dirty="0"/>
          </a:p>
        </p:txBody>
      </p:sp>
      <p:sp>
        <p:nvSpPr>
          <p:cNvPr id="6" name="Thẻ"/>
          <p:cNvSpPr/>
          <p:nvPr/>
        </p:nvSpPr>
        <p:spPr>
          <a:xfrm>
            <a:off x="7680960" y="4434840"/>
            <a:ext cx="4023360" cy="1554480"/>
          </a:xfrm>
          <a:prstGeom prst="roundRect">
            <a:avLst>
              <a:gd name="adj" fmla="val 7059"/>
            </a:avLst>
          </a:prstGeom>
          <a:solidFill>
            <a:srgbClr val="F1EEE8"/>
          </a:solidFill>
          <a:ln w="12700">
            <a:solidFill>
              <a:srgbClr val="F1EEE8"/>
            </a:solidFill>
            <a:prstDash val="solid"/>
          </a:ln>
        </p:spPr>
      </p:sp>
      <p:sp>
        <p:nvSpPr>
          <p:cNvPr id="7" name="Text 4"/>
          <p:cNvSpPr txBox="1"/>
          <p:nvPr/>
        </p:nvSpPr>
        <p:spPr>
          <a:xfrm>
            <a:off x="7863840" y="4526280"/>
            <a:ext cx="365760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Ví dụ</a:t>
            </a:r>
            <a:endParaRPr lang="en-US" sz="1400" dirty="0"/>
          </a:p>
        </p:txBody>
      </p:sp>
      <p:sp>
        <p:nvSpPr>
          <p:cNvPr id="8" name="Text 5"/>
          <p:cNvSpPr txBox="1"/>
          <p:nvPr/>
        </p:nvSpPr>
        <p:spPr>
          <a:xfrm>
            <a:off x="7863840" y="4846320"/>
            <a:ext cx="36576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50 ghế × 6.800.000 ₫ = 340.000.000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Trừ 8% (từ 20 sản phẩm) còn 312.800.000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Cộng VAT 10%: 344.080.000 ₫</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Sau khi gửi: lưu, email, mã QR</a:t>
            </a:r>
            <a:endParaRPr lang="en-US" sz="3400" dirty="0"/>
          </a:p>
        </p:txBody>
      </p:sp>
      <p:sp>
        <p:nvSpPr>
          <p:cNvPr id="3" name="Khung ảnh success"/>
          <p:cNvSpPr/>
          <p:nvPr/>
        </p:nvSpPr>
        <p:spPr>
          <a:xfrm>
            <a:off x="512064" y="1335024"/>
            <a:ext cx="5925312" cy="336499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success" descr="C:\Users\ADMIN\AppData\Local\Temp\claude\D--Downloads-Phat-NguyenDang-526000162\875f87fc-f1f4-489a-b3be-9bbc7a956b54\scratchpad\deck/success.png">    </p:cNvPr>
          <p:cNvPicPr>
            <a:picLocks noChangeAspect="1"/>
          </p:cNvPicPr>
          <p:nvPr/>
        </p:nvPicPr>
        <p:blipFill>
          <a:blip r:embed="rId1"/>
          <a:stretch>
            <a:fillRect/>
          </a:stretch>
        </p:blipFill>
        <p:spPr>
          <a:xfrm>
            <a:off x="548640" y="1371600"/>
            <a:ext cx="5852160" cy="3291840"/>
          </a:xfrm>
          <a:prstGeom prst="rect">
            <a:avLst/>
          </a:prstGeom>
        </p:spPr>
      </p:pic>
      <p:sp>
        <p:nvSpPr>
          <p:cNvPr id="5" name="Số 1"/>
          <p:cNvSpPr/>
          <p:nvPr/>
        </p:nvSpPr>
        <p:spPr>
          <a:xfrm>
            <a:off x="6766560" y="141732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676656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7360920" y="137160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Lưu trên thiết bị</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yêu cầu được lưu trước, mất mạng vẫn không mất</a:t>
            </a:r>
            <a:endParaRPr lang="en-US" sz="1600" dirty="0"/>
          </a:p>
        </p:txBody>
      </p:sp>
      <p:sp>
        <p:nvSpPr>
          <p:cNvPr id="8" name="Số 2"/>
          <p:cNvSpPr/>
          <p:nvPr/>
        </p:nvSpPr>
        <p:spPr>
          <a:xfrm>
            <a:off x="6766560" y="251460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6766560" y="2514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7360920" y="246888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Gửi lên Apps Script</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qua một đường link, ghi một dòng vào Google Sheet</a:t>
            </a:r>
            <a:endParaRPr lang="en-US" sz="1600" dirty="0"/>
          </a:p>
        </p:txBody>
      </p:sp>
      <p:sp>
        <p:nvSpPr>
          <p:cNvPr id="11" name="Số 3"/>
          <p:cNvSpPr/>
          <p:nvPr/>
        </p:nvSpPr>
        <p:spPr>
          <a:xfrm>
            <a:off x="6766560" y="3611880"/>
            <a:ext cx="457200" cy="457200"/>
          </a:xfrm>
          <a:prstGeom prst="ellipse">
            <a:avLst/>
          </a:prstGeom>
          <a:solidFill>
            <a:schemeClr val="accent1"/>
          </a:solidFill>
          <a:ln w="12700">
            <a:solidFill>
              <a:schemeClr val="accent1"/>
            </a:solidFill>
            <a:prstDash val="solid"/>
          </a:ln>
        </p:spPr>
      </p:sp>
      <p:sp>
        <p:nvSpPr>
          <p:cNvPr id="12" name="Text 9"/>
          <p:cNvSpPr txBox="1"/>
          <p:nvPr/>
        </p:nvSpPr>
        <p:spPr>
          <a:xfrm>
            <a:off x="6766560" y="3611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0"/>
          <p:cNvSpPr txBox="1"/>
          <p:nvPr/>
        </p:nvSpPr>
        <p:spPr>
          <a:xfrm>
            <a:off x="7360920" y="356616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Email cảm ơn</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gửi tự động đến email khách, kèm mã QR</a:t>
            </a:r>
            <a:endParaRPr lang="en-US" sz="1600" dirty="0"/>
          </a:p>
        </p:txBody>
      </p:sp>
      <p:sp>
        <p:nvSpPr>
          <p:cNvPr id="14" name="Số 4"/>
          <p:cNvSpPr/>
          <p:nvPr/>
        </p:nvSpPr>
        <p:spPr>
          <a:xfrm>
            <a:off x="6766560" y="470916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676656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6" name="Text 13"/>
          <p:cNvSpPr txBox="1"/>
          <p:nvPr/>
        </p:nvSpPr>
        <p:spPr>
          <a:xfrm>
            <a:off x="7360920" y="466344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Mã QR</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chứa họ tên và mã yêu cầu, hiện ngay trên trang</a:t>
            </a:r>
            <a:endParaRPr lang="en-US" sz="1600" dirty="0"/>
          </a:p>
        </p:txBody>
      </p:sp>
      <p:sp>
        <p:nvSpPr>
          <p:cNvPr id="17" name="Thẻ"/>
          <p:cNvSpPr/>
          <p:nvPr/>
        </p:nvSpPr>
        <p:spPr>
          <a:xfrm>
            <a:off x="548640" y="4892040"/>
            <a:ext cx="5852160" cy="1234440"/>
          </a:xfrm>
          <a:prstGeom prst="roundRect">
            <a:avLst>
              <a:gd name="adj" fmla="val 8889"/>
            </a:avLst>
          </a:prstGeom>
          <a:solidFill>
            <a:srgbClr val="F1EEE8"/>
          </a:solidFill>
          <a:ln w="12700">
            <a:solidFill>
              <a:srgbClr val="F1EEE8"/>
            </a:solidFill>
            <a:prstDash val="solid"/>
          </a:ln>
        </p:spPr>
      </p:sp>
      <p:sp>
        <p:nvSpPr>
          <p:cNvPr id="18" name="Text 15"/>
          <p:cNvSpPr txBox="1"/>
          <p:nvPr/>
        </p:nvSpPr>
        <p:spPr>
          <a:xfrm>
            <a:off x="777240" y="4983480"/>
            <a:ext cx="5394960" cy="10515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Chống spam: </a:t>
            </a:r>
            <a:pPr indent="0" marL="0">
              <a:buNone/>
            </a:pPr>
            <a:r>
              <a:rPr lang="en-US" sz="1500" dirty="0">
                <a:solidFill>
                  <a:schemeClr val="tx1"/>
                </a:solidFill>
                <a:latin typeface="Calibri" pitchFamily="34" charset="0"/>
                <a:ea typeface="Calibri" pitchFamily="34" charset="-122"/>
                <a:cs typeface="Calibri" pitchFamily="34" charset="-120"/>
              </a:rPr>
              <a:t>ô ẩn đánh lừa bot, form điền dưới 3 giây bị từ chối, mỗi email tối đa 3 yêu cầu mỗi giờ, giới hạn theo phút và theo giờ.</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ước giá: cấu hình món đồ, biết giá ngay</a:t>
            </a:r>
            <a:endParaRPr lang="en-US" sz="3400" dirty="0"/>
          </a:p>
        </p:txBody>
      </p:sp>
      <p:sp>
        <p:nvSpPr>
          <p:cNvPr id="3" name="Khung ảnh estimator"/>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estimator" descr="C:\Users\ADMIN\AppData\Local\Temp\claude\D--Downloads-Phat-NguyenDang-526000162\875f87fc-f1f4-489a-b3be-9bbc7a956b54\scratchpad\deck/estimator.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loại sản phẩm, chất liệu, kích thước, lớp hoàn thiện, số lượng</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Giá cập nhật ngay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khi đổi lựa chọn, kèm chiết khấu số lượng và VAT</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Thời gian sản xuất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ước tính theo bảng dữ liệu</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Thêm vào giỏ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để gửi cùng yêu cầu báo giá</a:t>
            </a:r>
            <a:endParaRPr lang="en-US" sz="1600" dirty="0"/>
          </a:p>
        </p:txBody>
      </p:sp>
      <p:sp>
        <p:nvSpPr>
          <p:cNvPr id="6" name="Thẻ"/>
          <p:cNvSpPr/>
          <p:nvPr/>
        </p:nvSpPr>
        <p:spPr>
          <a:xfrm>
            <a:off x="7680960" y="4617720"/>
            <a:ext cx="4023360" cy="1508760"/>
          </a:xfrm>
          <a:prstGeom prst="roundRect">
            <a:avLst>
              <a:gd name="adj" fmla="val 7273"/>
            </a:avLst>
          </a:prstGeom>
          <a:solidFill>
            <a:srgbClr val="F1EEE8"/>
          </a:solidFill>
          <a:ln w="12700">
            <a:solidFill>
              <a:srgbClr val="F1EEE8"/>
            </a:solidFill>
            <a:prstDash val="solid"/>
          </a:ln>
        </p:spPr>
      </p:sp>
      <p:sp>
        <p:nvSpPr>
          <p:cNvPr id="7" name="Text 4"/>
          <p:cNvSpPr txBox="1"/>
          <p:nvPr/>
        </p:nvSpPr>
        <p:spPr>
          <a:xfrm>
            <a:off x="7863840" y="4709160"/>
            <a:ext cx="3657600" cy="132588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Giá lưu bằng số nguyên đồng và làm tròn một chỗ duy nhất, để tránh sai số số thực khi cộng nhiều dòng.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Giỏ báo giá, lịch sử yêu cầu và xuất Excel</a:t>
            </a:r>
            <a:endParaRPr lang="en-US" sz="3400" dirty="0"/>
          </a:p>
        </p:txBody>
      </p:sp>
      <p:sp>
        <p:nvSpPr>
          <p:cNvPr id="3" name="Khung ảnh giỏ"/>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giỏ" descr="C:\Users\ADMIN\AppData\Local\Temp\claude\D--Downloads-Phat-NguyenDang-526000162\875f87fc-f1f4-489a-b3be-9bbc7a956b54\scratchpad\deck/cart.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lịch sử"/>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lịch sử" descr="C:\Users\ADMIN\AppData\Local\Temp\claude\D--Downloads-Phat-NguyenDang-526000162\875f87fc-f1f4-489a-b3be-9bbc7a956b54\scratchpad\deck/histor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Giỏ báo giá: ngăn kéo bên phải, đổi số lượng, mã giảm giá</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Lịch sử: trạng thái từng yêu cầu, gửi lại, tải Excel</a:t>
            </a:r>
            <a:endParaRPr lang="en-US" sz="1400" dirty="0"/>
          </a:p>
        </p:txBody>
      </p:sp>
      <p:sp>
        <p:nvSpPr>
          <p:cNvPr id="9" name="Text 5"/>
          <p:cNvSpPr txBox="1"/>
          <p:nvPr/>
        </p:nvSpPr>
        <p:spPr>
          <a:xfrm>
            <a:off x="548640" y="5212080"/>
            <a:ext cx="11064240" cy="100584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Giỏ và yêu thích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lưu trong localStorage, mở lại trang vẫn còn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Nút "Tải Excel"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xuất lịch sử yêu cầu ra file .xlsx có cột tiếng Việt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Song ngữ Việt · Anh và responsive</a:t>
            </a:r>
            <a:endParaRPr lang="en-US" sz="3400" dirty="0"/>
          </a:p>
        </p:txBody>
      </p:sp>
      <p:sp>
        <p:nvSpPr>
          <p:cNvPr id="3" name="Khung ảnh bản tiếng Anh"/>
          <p:cNvSpPr/>
          <p:nvPr/>
        </p:nvSpPr>
        <p:spPr>
          <a:xfrm>
            <a:off x="512064" y="1335024"/>
            <a:ext cx="5376672" cy="305638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bản tiếng Anh" descr="C:\Users\ADMIN\AppData\Local\Temp\claude\D--Downloads-Phat-NguyenDang-526000162\875f87fc-f1f4-489a-b3be-9bbc7a956b54\scratchpad\deck/home_en.png">    </p:cNvPr>
          <p:cNvPicPr>
            <a:picLocks noChangeAspect="1"/>
          </p:cNvPicPr>
          <p:nvPr/>
        </p:nvPicPr>
        <p:blipFill>
          <a:blip r:embed="rId1"/>
          <a:stretch>
            <a:fillRect/>
          </a:stretch>
        </p:blipFill>
        <p:spPr>
          <a:xfrm>
            <a:off x="548640" y="1371600"/>
            <a:ext cx="5303520" cy="2983230"/>
          </a:xfrm>
          <a:prstGeom prst="rect">
            <a:avLst/>
          </a:prstGeom>
        </p:spPr>
      </p:pic>
      <p:sp>
        <p:nvSpPr>
          <p:cNvPr id="5" name="Khung điện thoại 1"/>
          <p:cNvSpPr/>
          <p:nvPr/>
        </p:nvSpPr>
        <p:spPr>
          <a:xfrm>
            <a:off x="653796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6" name="Ảnh điện thoại 1" descr="C:\Users\ADMIN\AppData\Local\Temp\claude\D--Downloads-Phat-NguyenDang-526000162\875f87fc-f1f4-489a-b3be-9bbc7a956b54\scratchpad\deck/m_home.png">    </p:cNvPr>
          <p:cNvPicPr>
            <a:picLocks noChangeAspect="1"/>
          </p:cNvPicPr>
          <p:nvPr/>
        </p:nvPicPr>
        <p:blipFill>
          <a:blip r:embed="rId2"/>
          <a:stretch>
            <a:fillRect/>
          </a:stretch>
        </p:blipFill>
        <p:spPr>
          <a:xfrm>
            <a:off x="6583680" y="1371600"/>
            <a:ext cx="1554480" cy="3364054"/>
          </a:xfrm>
          <a:prstGeom prst="rect">
            <a:avLst/>
          </a:prstGeom>
        </p:spPr>
      </p:pic>
      <p:sp>
        <p:nvSpPr>
          <p:cNvPr id="7" name="Khung điện thoại 2"/>
          <p:cNvSpPr/>
          <p:nvPr/>
        </p:nvSpPr>
        <p:spPr>
          <a:xfrm>
            <a:off x="832104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8" name="Ảnh điện thoại 2" descr="C:\Users\ADMIN\AppData\Local\Temp\claude\D--Downloads-Phat-NguyenDang-526000162\875f87fc-f1f4-489a-b3be-9bbc7a956b54\scratchpad\deck/m_products.png">    </p:cNvPr>
          <p:cNvPicPr>
            <a:picLocks noChangeAspect="1"/>
          </p:cNvPicPr>
          <p:nvPr/>
        </p:nvPicPr>
        <p:blipFill>
          <a:blip r:embed="rId3"/>
          <a:stretch>
            <a:fillRect/>
          </a:stretch>
        </p:blipFill>
        <p:spPr>
          <a:xfrm>
            <a:off x="8366760" y="1371600"/>
            <a:ext cx="1554480" cy="3364054"/>
          </a:xfrm>
          <a:prstGeom prst="rect">
            <a:avLst/>
          </a:prstGeom>
        </p:spPr>
      </p:pic>
      <p:sp>
        <p:nvSpPr>
          <p:cNvPr id="9" name="Khung điện thoại 3"/>
          <p:cNvSpPr/>
          <p:nvPr/>
        </p:nvSpPr>
        <p:spPr>
          <a:xfrm>
            <a:off x="1010412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10" name="Ảnh điện thoại 3" descr="C:\Users\ADMIN\AppData\Local\Temp\claude\D--Downloads-Phat-NguyenDang-526000162\875f87fc-f1f4-489a-b3be-9bbc7a956b54\scratchpad\deck/m_contact.png">    </p:cNvPr>
          <p:cNvPicPr>
            <a:picLocks noChangeAspect="1"/>
          </p:cNvPicPr>
          <p:nvPr/>
        </p:nvPicPr>
        <p:blipFill>
          <a:blip r:embed="rId4"/>
          <a:stretch>
            <a:fillRect/>
          </a:stretch>
        </p:blipFill>
        <p:spPr>
          <a:xfrm>
            <a:off x="10149840" y="1371600"/>
            <a:ext cx="1554480" cy="3364054"/>
          </a:xfrm>
          <a:prstGeom prst="rect">
            <a:avLst/>
          </a:prstGeom>
        </p:spPr>
      </p:pic>
      <p:sp>
        <p:nvSpPr>
          <p:cNvPr id="11" name="Text 5"/>
          <p:cNvSpPr txBox="1"/>
          <p:nvPr/>
        </p:nvSpPr>
        <p:spPr>
          <a:xfrm>
            <a:off x="548640" y="4480560"/>
            <a:ext cx="5486400" cy="32004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Bản tiếng Anh (nút EN) và giao diện điện thoại</a:t>
            </a:r>
            <a:endParaRPr lang="en-US" sz="1400" dirty="0"/>
          </a:p>
        </p:txBody>
      </p:sp>
      <p:sp>
        <p:nvSpPr>
          <p:cNvPr id="12" name="Text 6"/>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Mặc định tiếng Việt;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đổi sang tiếng Anh một chạm, nhớ lựa chọn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Bố cục lưới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co giãn từ máy tính xuống điện thoại, menu thu gọn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Truy cập: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liên kết bỏ qua menu, focus rõ, tôn trọng giảm chuyển động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Chân trang và pháp lý</a:t>
            </a:r>
            <a:endParaRPr lang="en-US" sz="3400" dirty="0"/>
          </a:p>
        </p:txBody>
      </p:sp>
      <p:sp>
        <p:nvSpPr>
          <p:cNvPr id="3" name="Khung ảnh chân trang"/>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hân trang" descr="C:\Users\ADMIN\AppData\Local\Temp\claude\D--Downloads-Phat-NguyenDang-526000162\875f87fc-f1f4-489a-b3be-9bbc7a956b54\scratchpad\deck/footer.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chính sách bảo mật"/>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chính sách bảo mật" descr="C:\Users\ADMIN\AppData\Local\Temp\claude\D--Downloads-Phat-NguyenDang-526000162\875f87fc-f1f4-489a-b3be-9bbc7a956b54\scratchpad\deck/footer_privac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Chân trang bốn cột: giới thiệu, khám phá, liên hệ, pháp lý</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Hộp thoại Chính sách bảo mật (Điều khoản sử dụng tương tự)</a:t>
            </a:r>
            <a:endParaRPr lang="en-US" sz="1400" dirty="0"/>
          </a:p>
        </p:txBody>
      </p:sp>
      <p:sp>
        <p:nvSpPr>
          <p:cNvPr id="9" name="Text 5"/>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Nội dung đúng với thực tế: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dữ liệu lưu ở localStorage, Google Sheet, mã QR gửi họ tên cho QuickChart, email chống spam lưu tạm 1 giờ</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Nói rõ thương hiệu giả định: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không bán hàng, không nhận thanh toán, không có mã số thuế hay giấy phép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Kỹ thuật áp dụng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Đối chiếu với yêu cầu của đề</a:t>
            </a:r>
            <a:endParaRPr lang="en-US" sz="1600" dirty="0"/>
          </a:p>
        </p:txBody>
      </p:sp>
      <p:graphicFrame>
        <p:nvGraphicFramePr>
          <p:cNvPr id="14" name="Bảng kỹ thuật"/>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017520"/>
                <a:gridCol w="804672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Yêu cầu / kỹ thuật</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Cách áp dụng trong dự án</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HTML5 ngữ nghĩa</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header, nav, main, section, article, figure, dialog; heading theo thứ tự, alt cho mọi ảnh</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CSS Variables, Flex, Grid</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màu, font, khoảng cách khai báo ở :root; Grid cho lưới sản phẩm, Flex cho thanh menu</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Animate.css và AOS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tiêu đề, nút hero hiện lần lượt; các khối cuộn tới thì hiện dần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:hover và :focus tự viết</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nút, thẻ, liên kết, ô nhập; :focus-visible cho bàn phím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JavaScript và DOM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giỏ hàng, lọc, tìm không dấu, hộp thoại, kiểm tra biểu mẫu, localStorage</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Dữ liệu JSON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bảng sản phẩm, bảng giá, chuỗi giao diện, cấu hình; hàm tính giá thuần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Tính năng nâng cao</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xem ảnh lớn (modal), so sánh 3 sản phẩm, xuất Excel, chống spam hai lớp, chân trang pháp lý, chấm điều hướng trang chủ</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Git và triển khai</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commit nhỏ bằng tiếng Việt; GitHub Actions tự deploy lên GitHub Pages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Cấu trúc dự án</a:t>
            </a:r>
            <a:endParaRPr lang="en-US" sz="3400" dirty="0"/>
          </a:p>
        </p:txBody>
      </p:sp>
      <p:sp>
        <p:nvSpPr>
          <p:cNvPr id="3" name="Thẻ"/>
          <p:cNvSpPr/>
          <p:nvPr/>
        </p:nvSpPr>
        <p:spPr>
          <a:xfrm>
            <a:off x="548640" y="1371600"/>
            <a:ext cx="4480560" cy="4754880"/>
          </a:xfrm>
          <a:prstGeom prst="roundRect">
            <a:avLst>
              <a:gd name="adj" fmla="val 2449"/>
            </a:avLst>
          </a:prstGeom>
          <a:solidFill>
            <a:srgbClr val="1A1714"/>
          </a:solidFill>
          <a:ln w="12700">
            <a:solidFill>
              <a:srgbClr val="1A1714"/>
            </a:solidFill>
            <a:prstDash val="solid"/>
          </a:ln>
        </p:spPr>
      </p:sp>
      <p:sp>
        <p:nvSpPr>
          <p:cNvPr id="4" name="Cây thư mục"/>
          <p:cNvSpPr txBox="1"/>
          <p:nvPr/>
        </p:nvSpPr>
        <p:spPr>
          <a:xfrm>
            <a:off x="777240" y="1508760"/>
            <a:ext cx="4114800" cy="4480560"/>
          </a:xfrm>
          <a:prstGeom prst="rect">
            <a:avLst/>
          </a:prstGeom>
          <a:noFill/>
          <a:ln/>
        </p:spPr>
        <p:txBody>
          <a:bodyPr wrap="square" lIns="0" tIns="0" rIns="0" bIns="0" rtlCol="0" anchor="t"/>
          <a:lstStyle/>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index.html  products.html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estimator.html  contact.html</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css/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style.css  features.css  landing.css</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js/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api  store  lang  ui</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pricing  filters  validation</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cart  quotes  sheet  success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catalog  estimator  history</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quote-form  main  site</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data/</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products  pricing  ui  config</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apps-script/Code.gs</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.github/workflows/deploy.yml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PROMPT_LOG.md  README.md</a:t>
            </a:r>
            <a:endParaRPr lang="en-US" sz="1300" dirty="0"/>
          </a:p>
        </p:txBody>
      </p:sp>
      <p:sp>
        <p:nvSpPr>
          <p:cNvPr id="5" name="Thẻ"/>
          <p:cNvSpPr/>
          <p:nvPr/>
        </p:nvSpPr>
        <p:spPr>
          <a:xfrm>
            <a:off x="5577840" y="1371600"/>
            <a:ext cx="3840480" cy="868680"/>
          </a:xfrm>
          <a:prstGeom prst="roundRect">
            <a:avLst>
              <a:gd name="adj" fmla="val 12632"/>
            </a:avLst>
          </a:prstGeom>
          <a:solidFill>
            <a:srgbClr val="F1EEE8"/>
          </a:solidFill>
          <a:ln w="12700">
            <a:solidFill>
              <a:srgbClr val="F1EEE8"/>
            </a:solidFill>
            <a:prstDash val="solid"/>
          </a:ln>
        </p:spPr>
      </p:sp>
      <p:sp>
        <p:nvSpPr>
          <p:cNvPr id="6" name="Text 4"/>
          <p:cNvSpPr txBox="1"/>
          <p:nvPr/>
        </p:nvSpPr>
        <p:spPr>
          <a:xfrm>
            <a:off x="5760720" y="1371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Bảng dữ liệu</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data/*.js (JSON)</a:t>
            </a:r>
            <a:endParaRPr lang="en-US" sz="1600" dirty="0"/>
          </a:p>
        </p:txBody>
      </p:sp>
      <p:sp>
        <p:nvSpPr>
          <p:cNvPr id="7" name="Text 5"/>
          <p:cNvSpPr txBox="1"/>
          <p:nvPr/>
        </p:nvSpPr>
        <p:spPr>
          <a:xfrm>
            <a:off x="7269480" y="2258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8" name="Thẻ"/>
          <p:cNvSpPr/>
          <p:nvPr/>
        </p:nvSpPr>
        <p:spPr>
          <a:xfrm>
            <a:off x="5577840" y="2514600"/>
            <a:ext cx="3840480" cy="868680"/>
          </a:xfrm>
          <a:prstGeom prst="roundRect">
            <a:avLst>
              <a:gd name="adj" fmla="val 12632"/>
            </a:avLst>
          </a:prstGeom>
          <a:solidFill>
            <a:srgbClr val="F1EEE8"/>
          </a:solidFill>
          <a:ln w="12700">
            <a:solidFill>
              <a:srgbClr val="F1EEE8"/>
            </a:solidFill>
            <a:prstDash val="solid"/>
          </a:ln>
        </p:spPr>
      </p:sp>
      <p:sp>
        <p:nvSpPr>
          <p:cNvPr id="9" name="Text 7"/>
          <p:cNvSpPr txBox="1"/>
          <p:nvPr/>
        </p:nvSpPr>
        <p:spPr>
          <a:xfrm>
            <a:off x="5760720" y="2514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api.js</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đọc dữ liệu</a:t>
            </a:r>
            <a:endParaRPr lang="en-US" sz="1600" dirty="0"/>
          </a:p>
        </p:txBody>
      </p:sp>
      <p:sp>
        <p:nvSpPr>
          <p:cNvPr id="10" name="Text 8"/>
          <p:cNvSpPr txBox="1"/>
          <p:nvPr/>
        </p:nvSpPr>
        <p:spPr>
          <a:xfrm>
            <a:off x="7269480" y="3401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1" name="Thẻ"/>
          <p:cNvSpPr/>
          <p:nvPr/>
        </p:nvSpPr>
        <p:spPr>
          <a:xfrm>
            <a:off x="5577840" y="3657600"/>
            <a:ext cx="3840480" cy="868680"/>
          </a:xfrm>
          <a:prstGeom prst="roundRect">
            <a:avLst>
              <a:gd name="adj" fmla="val 12632"/>
            </a:avLst>
          </a:prstGeom>
          <a:solidFill>
            <a:srgbClr val="F1EEE8"/>
          </a:solidFill>
          <a:ln w="12700">
            <a:solidFill>
              <a:srgbClr val="F1EEE8"/>
            </a:solidFill>
            <a:prstDash val="solid"/>
          </a:ln>
        </p:spPr>
      </p:sp>
      <p:sp>
        <p:nvSpPr>
          <p:cNvPr id="12" name="Text 10"/>
          <p:cNvSpPr txBox="1"/>
          <p:nvPr/>
        </p:nvSpPr>
        <p:spPr>
          <a:xfrm>
            <a:off x="5760720" y="3657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Mô-đun xử lý</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pricing · filters · validation · cart</a:t>
            </a:r>
            <a:endParaRPr lang="en-US" sz="1600" dirty="0"/>
          </a:p>
        </p:txBody>
      </p:sp>
      <p:sp>
        <p:nvSpPr>
          <p:cNvPr id="13" name="Text 11"/>
          <p:cNvSpPr txBox="1"/>
          <p:nvPr/>
        </p:nvSpPr>
        <p:spPr>
          <a:xfrm>
            <a:off x="7269480" y="4544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4" name="Thẻ"/>
          <p:cNvSpPr/>
          <p:nvPr/>
        </p:nvSpPr>
        <p:spPr>
          <a:xfrm>
            <a:off x="5577840" y="4800600"/>
            <a:ext cx="3840480" cy="868680"/>
          </a:xfrm>
          <a:prstGeom prst="roundRect">
            <a:avLst>
              <a:gd name="adj" fmla="val 12632"/>
            </a:avLst>
          </a:prstGeom>
          <a:solidFill>
            <a:srgbClr val="F1EEE8"/>
          </a:solidFill>
          <a:ln w="12700">
            <a:solidFill>
              <a:srgbClr val="F1EEE8"/>
            </a:solidFill>
            <a:prstDash val="solid"/>
          </a:ln>
        </p:spPr>
      </p:sp>
      <p:sp>
        <p:nvSpPr>
          <p:cNvPr id="15" name="Text 13"/>
          <p:cNvSpPr txBox="1"/>
          <p:nvPr/>
        </p:nvSpPr>
        <p:spPr>
          <a:xfrm>
            <a:off x="5760720" y="4800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Giao diện</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catalog · estimator · quote-form · history</a:t>
            </a:r>
            <a:endParaRPr lang="en-US" sz="1600" dirty="0"/>
          </a:p>
        </p:txBody>
      </p:sp>
      <p:sp>
        <p:nvSpPr>
          <p:cNvPr id="16" name="Text 14"/>
          <p:cNvSpPr txBox="1"/>
          <p:nvPr/>
        </p:nvSpPr>
        <p:spPr>
          <a:xfrm>
            <a:off x="7269480" y="5687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646920" y="1371600"/>
            <a:ext cx="2103120" cy="3108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Mỗi mô-đun là một hàm gói trong IIFE, gắn vào window.Ericss; các trang nạp bằng thẻ script thường nên mở file là chạy.</a:t>
            </a:r>
            <a:endParaRPr lang="en-US" sz="1400" dirty="0"/>
          </a:p>
        </p:txBody>
      </p:sp>
      <p:sp>
        <p:nvSpPr>
          <p:cNvPr id="18" name="Text 16"/>
          <p:cNvSpPr txBox="1"/>
          <p:nvPr/>
        </p:nvSpPr>
        <p:spPr>
          <a:xfrm>
            <a:off x="9646920" y="4800600"/>
            <a:ext cx="210312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Google Sheet</a:t>
            </a:r>
            <a:endParaRPr lang="en-US" sz="1600" dirty="0"/>
          </a:p>
        </p:txBody>
      </p:sp>
      <p:sp>
        <p:nvSpPr>
          <p:cNvPr id="19" name="Text 17"/>
          <p:cNvSpPr txBox="1"/>
          <p:nvPr/>
        </p:nvSpPr>
        <p:spPr>
          <a:xfrm>
            <a:off x="9646920" y="5166360"/>
            <a:ext cx="2103120" cy="822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nhận dữ liệu qua apps-script/Code.gs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Kế hoạch thực hiện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Làm theo vòng lặp ngắn: một yêu cầu, một commit nhỏ, deploy rồi kiểm tra trên trang thật</a:t>
            </a:r>
            <a:endParaRPr lang="en-US" sz="1600" dirty="0"/>
          </a:p>
        </p:txBody>
      </p:sp>
      <p:sp>
        <p:nvSpPr>
          <p:cNvPr id="4" name="Thẻ"/>
          <p:cNvSpPr/>
          <p:nvPr/>
        </p:nvSpPr>
        <p:spPr>
          <a:xfrm>
            <a:off x="548640" y="1828800"/>
            <a:ext cx="1755648" cy="3291840"/>
          </a:xfrm>
          <a:prstGeom prst="roundRect">
            <a:avLst>
              <a:gd name="adj" fmla="val 6250"/>
            </a:avLst>
          </a:prstGeom>
          <a:solidFill>
            <a:srgbClr val="F1EEE8"/>
          </a:solidFill>
          <a:ln w="12700">
            <a:solidFill>
              <a:srgbClr val="F1EEE8"/>
            </a:solidFill>
            <a:prstDash val="solid"/>
          </a:ln>
        </p:spPr>
      </p:sp>
      <p:sp>
        <p:nvSpPr>
          <p:cNvPr id="5" name="Số 1"/>
          <p:cNvSpPr/>
          <p:nvPr/>
        </p:nvSpPr>
        <p:spPr>
          <a:xfrm>
            <a:off x="731520" y="20116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73152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25880"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10/10</a:t>
            </a:r>
            <a:endParaRPr lang="en-US" sz="2000" dirty="0"/>
          </a:p>
        </p:txBody>
      </p:sp>
      <p:sp>
        <p:nvSpPr>
          <p:cNvPr id="8" name="Text 6"/>
          <p:cNvSpPr txBox="1"/>
          <p:nvPr/>
        </p:nvSpPr>
        <p:spPr>
          <a:xfrm>
            <a:off x="731520"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Khởi tạo</a:t>
            </a:r>
            <a:endParaRPr lang="en-US" sz="1600" dirty="0"/>
          </a:p>
        </p:txBody>
      </p:sp>
      <p:sp>
        <p:nvSpPr>
          <p:cNvPr id="9" name="Text 7"/>
          <p:cNvSpPr txBox="1"/>
          <p:nvPr/>
        </p:nvSpPr>
        <p:spPr>
          <a:xfrm>
            <a:off x="731520"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Landing HTML5 và CSS Variables, deploy GitHub Actions, song ngữ, Animate.css, AOS, GSAP</a:t>
            </a:r>
            <a:endParaRPr lang="en-US" sz="1400" dirty="0"/>
          </a:p>
        </p:txBody>
      </p:sp>
      <p:sp>
        <p:nvSpPr>
          <p:cNvPr id="10" name="Thẻ"/>
          <p:cNvSpPr/>
          <p:nvPr/>
        </p:nvSpPr>
        <p:spPr>
          <a:xfrm>
            <a:off x="2410358" y="1828800"/>
            <a:ext cx="1755648" cy="3291840"/>
          </a:xfrm>
          <a:prstGeom prst="roundRect">
            <a:avLst>
              <a:gd name="adj" fmla="val 6250"/>
            </a:avLst>
          </a:prstGeom>
          <a:solidFill>
            <a:srgbClr val="F1EEE8"/>
          </a:solidFill>
          <a:ln w="12700">
            <a:solidFill>
              <a:srgbClr val="F1EEE8"/>
            </a:solidFill>
            <a:prstDash val="solid"/>
          </a:ln>
        </p:spPr>
      </p:sp>
      <p:sp>
        <p:nvSpPr>
          <p:cNvPr id="11" name="Số 2"/>
          <p:cNvSpPr/>
          <p:nvPr/>
        </p:nvSpPr>
        <p:spPr>
          <a:xfrm>
            <a:off x="2593238" y="201168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2593238"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3187598"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14/10</a:t>
            </a:r>
            <a:endParaRPr lang="en-US" sz="2000" dirty="0"/>
          </a:p>
        </p:txBody>
      </p:sp>
      <p:sp>
        <p:nvSpPr>
          <p:cNvPr id="14" name="Text 12"/>
          <p:cNvSpPr txBox="1"/>
          <p:nvPr/>
        </p:nvSpPr>
        <p:spPr>
          <a:xfrm>
            <a:off x="2593238"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Tinh chỉnh</a:t>
            </a:r>
            <a:endParaRPr lang="en-US" sz="1600" dirty="0"/>
          </a:p>
        </p:txBody>
      </p:sp>
      <p:sp>
        <p:nvSpPr>
          <p:cNvPr id="15" name="Text 13"/>
          <p:cNvSpPr txBox="1"/>
          <p:nvPr/>
        </p:nvSpPr>
        <p:spPr>
          <a:xfrm>
            <a:off x="2593238"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Bớt hiệu ứng rối mắt (bỏ thư viện cuộn Lenis)</a:t>
            </a:r>
            <a:endParaRPr lang="en-US" sz="1400" dirty="0"/>
          </a:p>
        </p:txBody>
      </p:sp>
      <p:sp>
        <p:nvSpPr>
          <p:cNvPr id="16" name="Thẻ"/>
          <p:cNvSpPr/>
          <p:nvPr/>
        </p:nvSpPr>
        <p:spPr>
          <a:xfrm>
            <a:off x="4272077" y="1828800"/>
            <a:ext cx="1755648" cy="3291840"/>
          </a:xfrm>
          <a:prstGeom prst="roundRect">
            <a:avLst>
              <a:gd name="adj" fmla="val 6250"/>
            </a:avLst>
          </a:prstGeom>
          <a:solidFill>
            <a:srgbClr val="F1EEE8"/>
          </a:solidFill>
          <a:ln w="12700">
            <a:solidFill>
              <a:srgbClr val="F1EEE8"/>
            </a:solidFill>
            <a:prstDash val="solid"/>
          </a:ln>
        </p:spPr>
      </p:sp>
      <p:sp>
        <p:nvSpPr>
          <p:cNvPr id="17" name="Số 3"/>
          <p:cNvSpPr/>
          <p:nvPr/>
        </p:nvSpPr>
        <p:spPr>
          <a:xfrm>
            <a:off x="4454957" y="2011680"/>
            <a:ext cx="502920" cy="502920"/>
          </a:xfrm>
          <a:prstGeom prst="ellipse">
            <a:avLst/>
          </a:prstGeom>
          <a:solidFill>
            <a:schemeClr val="accent1"/>
          </a:solidFill>
          <a:ln w="12700">
            <a:solidFill>
              <a:schemeClr val="accent1"/>
            </a:solidFill>
            <a:prstDash val="solid"/>
          </a:ln>
        </p:spPr>
      </p:sp>
      <p:sp>
        <p:nvSpPr>
          <p:cNvPr id="18" name="Text 16"/>
          <p:cNvSpPr txBox="1"/>
          <p:nvPr/>
        </p:nvSpPr>
        <p:spPr>
          <a:xfrm>
            <a:off x="4454957"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049317"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16/10</a:t>
            </a:r>
            <a:endParaRPr lang="en-US" sz="2000" dirty="0"/>
          </a:p>
        </p:txBody>
      </p:sp>
      <p:sp>
        <p:nvSpPr>
          <p:cNvPr id="20" name="Text 18"/>
          <p:cNvSpPr txBox="1"/>
          <p:nvPr/>
        </p:nvSpPr>
        <p:spPr>
          <a:xfrm>
            <a:off x="4454957"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Dữ liệu và chức năng</a:t>
            </a:r>
            <a:endParaRPr lang="en-US" sz="1600" dirty="0"/>
          </a:p>
        </p:txBody>
      </p:sp>
      <p:sp>
        <p:nvSpPr>
          <p:cNvPr id="21" name="Text 19"/>
          <p:cNvSpPr txBox="1"/>
          <p:nvPr/>
        </p:nvSpPr>
        <p:spPr>
          <a:xfrm>
            <a:off x="4454957"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Bảng JSON, giỏ báo giá, 26 sản phẩm, tách 4 trang, kết nối Google Sheet</a:t>
            </a:r>
            <a:endParaRPr lang="en-US" sz="1400" dirty="0"/>
          </a:p>
        </p:txBody>
      </p:sp>
      <p:sp>
        <p:nvSpPr>
          <p:cNvPr id="22" name="Thẻ"/>
          <p:cNvSpPr/>
          <p:nvPr/>
        </p:nvSpPr>
        <p:spPr>
          <a:xfrm>
            <a:off x="6133795" y="1828800"/>
            <a:ext cx="1755648" cy="3291840"/>
          </a:xfrm>
          <a:prstGeom prst="roundRect">
            <a:avLst>
              <a:gd name="adj" fmla="val 6250"/>
            </a:avLst>
          </a:prstGeom>
          <a:solidFill>
            <a:srgbClr val="F1EEE8"/>
          </a:solidFill>
          <a:ln w="12700">
            <a:solidFill>
              <a:srgbClr val="F1EEE8"/>
            </a:solidFill>
            <a:prstDash val="solid"/>
          </a:ln>
        </p:spPr>
      </p:sp>
      <p:sp>
        <p:nvSpPr>
          <p:cNvPr id="23" name="Số 4"/>
          <p:cNvSpPr/>
          <p:nvPr/>
        </p:nvSpPr>
        <p:spPr>
          <a:xfrm>
            <a:off x="6316675" y="2011680"/>
            <a:ext cx="502920" cy="502920"/>
          </a:xfrm>
          <a:prstGeom prst="ellipse">
            <a:avLst/>
          </a:prstGeom>
          <a:solidFill>
            <a:schemeClr val="accent1"/>
          </a:solidFill>
          <a:ln w="12700">
            <a:solidFill>
              <a:schemeClr val="accent1"/>
            </a:solidFill>
            <a:prstDash val="solid"/>
          </a:ln>
        </p:spPr>
      </p:sp>
      <p:sp>
        <p:nvSpPr>
          <p:cNvPr id="24" name="Text 22"/>
          <p:cNvSpPr txBox="1"/>
          <p:nvPr/>
        </p:nvSpPr>
        <p:spPr>
          <a:xfrm>
            <a:off x="6316675"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txBox="1"/>
          <p:nvPr/>
        </p:nvSpPr>
        <p:spPr>
          <a:xfrm>
            <a:off x="6911035"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17/10</a:t>
            </a:r>
            <a:endParaRPr lang="en-US" sz="2000" dirty="0"/>
          </a:p>
        </p:txBody>
      </p:sp>
      <p:sp>
        <p:nvSpPr>
          <p:cNvPr id="26" name="Text 24"/>
          <p:cNvSpPr txBox="1"/>
          <p:nvPr/>
        </p:nvSpPr>
        <p:spPr>
          <a:xfrm>
            <a:off x="6316675"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Hoàn thiện báo giá</a:t>
            </a:r>
            <a:endParaRPr lang="en-US" sz="1600" dirty="0"/>
          </a:p>
        </p:txBody>
      </p:sp>
      <p:sp>
        <p:nvSpPr>
          <p:cNvPr id="27" name="Text 25"/>
          <p:cNvSpPr txBox="1"/>
          <p:nvPr/>
        </p:nvSpPr>
        <p:spPr>
          <a:xfrm>
            <a:off x="6316675"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Biểu mẫu thống nhất, script thường, xuất Excel, tài liệu thuyết trình</a:t>
            </a:r>
            <a:endParaRPr lang="en-US" sz="1400" dirty="0"/>
          </a:p>
        </p:txBody>
      </p:sp>
      <p:sp>
        <p:nvSpPr>
          <p:cNvPr id="28" name="Thẻ"/>
          <p:cNvSpPr/>
          <p:nvPr/>
        </p:nvSpPr>
        <p:spPr>
          <a:xfrm>
            <a:off x="7995514" y="1828800"/>
            <a:ext cx="1755648" cy="3291840"/>
          </a:xfrm>
          <a:prstGeom prst="roundRect">
            <a:avLst>
              <a:gd name="adj" fmla="val 6250"/>
            </a:avLst>
          </a:prstGeom>
          <a:solidFill>
            <a:srgbClr val="F1EEE8"/>
          </a:solidFill>
          <a:ln w="12700">
            <a:solidFill>
              <a:srgbClr val="F1EEE8"/>
            </a:solidFill>
            <a:prstDash val="solid"/>
          </a:ln>
        </p:spPr>
      </p:sp>
      <p:sp>
        <p:nvSpPr>
          <p:cNvPr id="29" name="Số 5"/>
          <p:cNvSpPr/>
          <p:nvPr/>
        </p:nvSpPr>
        <p:spPr>
          <a:xfrm>
            <a:off x="8178394" y="2011680"/>
            <a:ext cx="502920" cy="502920"/>
          </a:xfrm>
          <a:prstGeom prst="ellipse">
            <a:avLst/>
          </a:prstGeom>
          <a:solidFill>
            <a:schemeClr val="accent1"/>
          </a:solidFill>
          <a:ln w="12700">
            <a:solidFill>
              <a:schemeClr val="accent1"/>
            </a:solidFill>
            <a:prstDash val="solid"/>
          </a:ln>
        </p:spPr>
      </p:sp>
      <p:sp>
        <p:nvSpPr>
          <p:cNvPr id="30" name="Text 28"/>
          <p:cNvSpPr txBox="1"/>
          <p:nvPr/>
        </p:nvSpPr>
        <p:spPr>
          <a:xfrm>
            <a:off x="8178394"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txBox="1"/>
          <p:nvPr/>
        </p:nvSpPr>
        <p:spPr>
          <a:xfrm>
            <a:off x="8772754"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18/10</a:t>
            </a:r>
            <a:endParaRPr lang="en-US" sz="2000" dirty="0"/>
          </a:p>
        </p:txBody>
      </p:sp>
      <p:sp>
        <p:nvSpPr>
          <p:cNvPr id="32" name="Text 30"/>
          <p:cNvSpPr txBox="1"/>
          <p:nvPr/>
        </p:nvSpPr>
        <p:spPr>
          <a:xfrm>
            <a:off x="8178394"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Chống spam</a:t>
            </a:r>
            <a:endParaRPr lang="en-US" sz="1600" dirty="0"/>
          </a:p>
        </p:txBody>
      </p:sp>
      <p:sp>
        <p:nvSpPr>
          <p:cNvPr id="33" name="Text 31"/>
          <p:cNvSpPr txBox="1"/>
          <p:nvPr/>
        </p:nvSpPr>
        <p:spPr>
          <a:xfrm>
            <a:off x="8178394"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Email cảm ơn, mã QR, chống spam hai lớp, README, PROMPT_LOG</a:t>
            </a:r>
            <a:endParaRPr lang="en-US" sz="1400" dirty="0"/>
          </a:p>
        </p:txBody>
      </p:sp>
      <p:sp>
        <p:nvSpPr>
          <p:cNvPr id="34" name="Thẻ"/>
          <p:cNvSpPr/>
          <p:nvPr/>
        </p:nvSpPr>
        <p:spPr>
          <a:xfrm>
            <a:off x="9857232" y="1828800"/>
            <a:ext cx="1755648" cy="3291840"/>
          </a:xfrm>
          <a:prstGeom prst="roundRect">
            <a:avLst>
              <a:gd name="adj" fmla="val 6250"/>
            </a:avLst>
          </a:prstGeom>
          <a:solidFill>
            <a:srgbClr val="F1EEE8"/>
          </a:solidFill>
          <a:ln w="12700">
            <a:solidFill>
              <a:srgbClr val="F1EEE8"/>
            </a:solidFill>
            <a:prstDash val="solid"/>
          </a:ln>
        </p:spPr>
      </p:sp>
      <p:sp>
        <p:nvSpPr>
          <p:cNvPr id="35" name="Số 6"/>
          <p:cNvSpPr/>
          <p:nvPr/>
        </p:nvSpPr>
        <p:spPr>
          <a:xfrm>
            <a:off x="10040112" y="2011680"/>
            <a:ext cx="502920" cy="502920"/>
          </a:xfrm>
          <a:prstGeom prst="ellipse">
            <a:avLst/>
          </a:prstGeom>
          <a:solidFill>
            <a:schemeClr val="accent1"/>
          </a:solidFill>
          <a:ln w="12700">
            <a:solidFill>
              <a:schemeClr val="accent1"/>
            </a:solidFill>
            <a:prstDash val="solid"/>
          </a:ln>
        </p:spPr>
      </p:sp>
      <p:sp>
        <p:nvSpPr>
          <p:cNvPr id="36" name="Text 34"/>
          <p:cNvSpPr txBox="1"/>
          <p:nvPr/>
        </p:nvSpPr>
        <p:spPr>
          <a:xfrm>
            <a:off x="10040112"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7" name="Text 35"/>
          <p:cNvSpPr txBox="1"/>
          <p:nvPr/>
        </p:nvSpPr>
        <p:spPr>
          <a:xfrm>
            <a:off x="10634472"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21/10</a:t>
            </a:r>
            <a:endParaRPr lang="en-US" sz="2000" dirty="0"/>
          </a:p>
        </p:txBody>
      </p:sp>
      <p:sp>
        <p:nvSpPr>
          <p:cNvPr id="38" name="Text 36"/>
          <p:cNvSpPr txBox="1"/>
          <p:nvPr/>
        </p:nvSpPr>
        <p:spPr>
          <a:xfrm>
            <a:off x="10040112"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Nâng cấp giao diện</a:t>
            </a:r>
            <a:endParaRPr lang="en-US" sz="1600" dirty="0"/>
          </a:p>
        </p:txBody>
      </p:sp>
      <p:sp>
        <p:nvSpPr>
          <p:cNvPr id="39" name="Text 37"/>
          <p:cNvSpPr txBox="1"/>
          <p:nvPr/>
        </p:nvSpPr>
        <p:spPr>
          <a:xfrm>
            <a:off x="10040112"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Modal ảnh, chân trang pháp lý, so sánh, chấm điều hướng, slide báo cáo</a:t>
            </a:r>
            <a:endParaRPr lang="en-US" sz="1400" dirty="0"/>
          </a:p>
        </p:txBody>
      </p:sp>
      <p:sp>
        <p:nvSpPr>
          <p:cNvPr id="4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41" name="Khung vòng lặp"/>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42" name="Text 4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Mỗi vòng: </a:t>
            </a:r>
            <a:pPr indent="0" marL="0">
              <a:buNone/>
            </a:pPr>
            <a:r>
              <a:rPr lang="en-US" sz="1600" dirty="0">
                <a:solidFill>
                  <a:schemeClr val="tx1"/>
                </a:solidFill>
                <a:latin typeface="Calibri" pitchFamily="34" charset="0"/>
                <a:ea typeface="Calibri" pitchFamily="34" charset="-122"/>
                <a:cs typeface="Calibri" pitchFamily="34" charset="-120"/>
              </a:rPr>
              <a:t>yêu cầu, AI viết mã, kiểm thử, commit, deploy, kiểm tra trên trang thật.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Phân chia công việc</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Dự án cá nhân, làm theo cách vibe coding: sinh viên định hướng, AI thực hiện, sinh viên kiểm tra</a:t>
            </a:r>
            <a:endParaRPr lang="en-US" sz="1600" dirty="0"/>
          </a:p>
        </p:txBody>
      </p:sp>
      <p:sp>
        <p:nvSpPr>
          <p:cNvPr id="4" name="Thẻ"/>
          <p:cNvSpPr/>
          <p:nvPr/>
        </p:nvSpPr>
        <p:spPr>
          <a:xfrm>
            <a:off x="548640" y="1737360"/>
            <a:ext cx="5440680" cy="3383280"/>
          </a:xfrm>
          <a:prstGeom prst="roundRect">
            <a:avLst>
              <a:gd name="adj" fmla="val 3243"/>
            </a:avLst>
          </a:prstGeom>
          <a:solidFill>
            <a:srgbClr val="F1EEE8"/>
          </a:solidFill>
          <a:ln w="12700">
            <a:solidFill>
              <a:srgbClr val="F1EEE8"/>
            </a:solidFill>
            <a:prstDash val="solid"/>
          </a:ln>
        </p:spPr>
      </p:sp>
      <p:sp>
        <p:nvSpPr>
          <p:cNvPr id="5" name="Text 3"/>
          <p:cNvSpPr txBox="1"/>
          <p:nvPr/>
        </p:nvSpPr>
        <p:spPr>
          <a:xfrm>
            <a:off x="77724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Sinh viên (Nguyễn Đăng Phát)</a:t>
            </a:r>
            <a:endParaRPr lang="en-US" sz="2000" dirty="0"/>
          </a:p>
        </p:txBody>
      </p:sp>
      <p:sp>
        <p:nvSpPr>
          <p:cNvPr id="6" name="Text 4"/>
          <p:cNvSpPr txBox="1"/>
          <p:nvPr/>
        </p:nvSpPr>
        <p:spPr>
          <a:xfrm>
            <a:off x="77724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Đặt yêu cầu, chọn đề tài và hướng thiết kế</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Duyệt giao diện, nội dung và dữ liệu mẫu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repo, Google Sheet, triển khai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Kiểm tra trên trang thật và ra quyết định (bỏ Lenis, hoàn nguyên landing, bỏ giới hạn lượt)</a:t>
            </a:r>
            <a:endParaRPr lang="en-US" sz="1600" dirty="0"/>
          </a:p>
        </p:txBody>
      </p:sp>
      <p:sp>
        <p:nvSpPr>
          <p:cNvPr id="7" name="Thẻ"/>
          <p:cNvSpPr/>
          <p:nvPr/>
        </p:nvSpPr>
        <p:spPr>
          <a:xfrm>
            <a:off x="6172200" y="1737360"/>
            <a:ext cx="5440680" cy="3383280"/>
          </a:xfrm>
          <a:prstGeom prst="roundRect">
            <a:avLst>
              <a:gd name="adj" fmla="val 3243"/>
            </a:avLst>
          </a:prstGeom>
          <a:solidFill>
            <a:srgbClr val="F1EEE8"/>
          </a:solidFill>
          <a:ln w="12700">
            <a:solidFill>
              <a:srgbClr val="F1EEE8"/>
            </a:solidFill>
            <a:prstDash val="solid"/>
          </a:ln>
        </p:spPr>
      </p:sp>
      <p:sp>
        <p:nvSpPr>
          <p:cNvPr id="8" name="Text 6"/>
          <p:cNvSpPr txBox="1"/>
          <p:nvPr/>
        </p:nvSpPr>
        <p:spPr>
          <a:xfrm>
            <a:off x="640080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Trợ lý AI (Claude Code)</a:t>
            </a:r>
            <a:endParaRPr lang="en-US" sz="2000" dirty="0"/>
          </a:p>
        </p:txBody>
      </p:sp>
      <p:sp>
        <p:nvSpPr>
          <p:cNvPr id="9" name="Text 7"/>
          <p:cNvSpPr txBox="1"/>
          <p:nvPr/>
        </p:nvSpPr>
        <p:spPr>
          <a:xfrm>
            <a:off x="640080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HTML, CSS, JavaScript và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26 sản phẩm mẫu, chuỗi song ngữ</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Chạy kiểm thử tự động trên trình duyệt, chụp ảnh để soát lỗi</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tài liệu, commit tiếng Việt, ghi PROMPT_LOG</a:t>
            </a:r>
            <a:endParaRPr lang="en-US" sz="1600" dirty="0"/>
          </a:p>
        </p:txBody>
      </p:sp>
      <p:sp>
        <p:nvSpPr>
          <p:cNvPr id="1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11" name="Khung Git"/>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12" name="Text 1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Quy trình Git: </a:t>
            </a:r>
            <a:pPr indent="0" marL="0">
              <a:buNone/>
            </a:pPr>
            <a:r>
              <a:rPr lang="en-US" sz="1500" dirty="0">
                <a:solidFill>
                  <a:schemeClr val="tx1"/>
                </a:solidFill>
                <a:latin typeface="Calibri" pitchFamily="34" charset="0"/>
                <a:ea typeface="Calibri" pitchFamily="34" charset="-122"/>
                <a:cs typeface="Calibri" pitchFamily="34" charset="-120"/>
              </a:rPr>
              <a:t>commit nhỏ theo loại (feat, fix, docs, refactor), push lên main, GitHub Actions tự deploy lên GitHub Pages.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Nhật ký prompt (tóm tắt 26 lần)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Bản đầy đủ nằm trong PROMPT_LOG.md trên repo</a:t>
            </a:r>
            <a:endParaRPr lang="en-US" sz="1600" dirty="0"/>
          </a:p>
        </p:txBody>
      </p:sp>
      <p:graphicFrame>
        <p:nvGraphicFramePr>
          <p:cNvPr id="18" name="Bảng prompt log"/>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9875520"/>
              </a:tblGrid>
              <a:tr h="42062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Lần</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Nội dung chính</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Khung semantic HTML, CSS Variables, thẩm mỹ light cao cấp, Animate.css, AOS, hover và focus tự viết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5-7</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Chọn hình ảnh, đặt tên thương hiệu, GitHub Actions đến GitHub Pages</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8-9</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Song ngữ Việt · Anh (mặc định tiếng Việt), hộp thoại GitHub ở chân trang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10-12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Đổi tông màu nâu, làm mới hero, thêm GSAP và hiệu ứng hover mượt hơn</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13-14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Tách nhiều trang, dữ liệu JSON, giỏ báo giá, báo giá theo MOQ, 26 sản phẩm, lưu Google Sheet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15-16</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Kết nối Sheet thật và gỡ lỗi cấp quyền; gộp thành một biểu mẫu báo giá</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17-18</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Thiết kế lại landing bằng skill, dọn dự án, tài liệu thuyết trình, chuyển sang script thường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19-20</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Email cảm ơn, mã QR, bảng Sheet tiếng Việt, chống spam, xuất Excel</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21-22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Sửa lỗi hiển thị, hoàn nguyên landing, tư vấn nối ERP và tính năng nâng cao</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23-26</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Modal xem ảnh, chân trang pháp lý, so sánh sản phẩm, slide báo cáo, tách menu trang, chấm điều hướng các phần</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Kết quả và hướng phát triển</a:t>
            </a:r>
            <a:endParaRPr lang="en-US" sz="3400" dirty="0"/>
          </a:p>
        </p:txBody>
      </p:sp>
      <p:sp>
        <p:nvSpPr>
          <p:cNvPr id="3" name="Thẻ Kết quả"/>
          <p:cNvSpPr/>
          <p:nvPr/>
        </p:nvSpPr>
        <p:spPr>
          <a:xfrm>
            <a:off x="548640" y="1371600"/>
            <a:ext cx="3566160" cy="3931920"/>
          </a:xfrm>
          <a:prstGeom prst="roundRect">
            <a:avLst>
              <a:gd name="adj" fmla="val 3077"/>
            </a:avLst>
          </a:prstGeom>
          <a:solidFill>
            <a:srgbClr val="2A2520"/>
          </a:solidFill>
          <a:ln w="12700">
            <a:solidFill>
              <a:srgbClr val="2A2520"/>
            </a:solidFill>
            <a:prstDash val="solid"/>
          </a:ln>
        </p:spPr>
      </p:sp>
      <p:sp>
        <p:nvSpPr>
          <p:cNvPr id="4" name="Text 2"/>
          <p:cNvSpPr txBox="1"/>
          <p:nvPr/>
        </p:nvSpPr>
        <p:spPr>
          <a:xfrm>
            <a:off x="77724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Kết quả</a:t>
            </a:r>
            <a:endParaRPr lang="en-US" sz="2200" dirty="0"/>
          </a:p>
        </p:txBody>
      </p:sp>
      <p:sp>
        <p:nvSpPr>
          <p:cNvPr id="5" name="Text 3"/>
          <p:cNvSpPr txBox="1"/>
          <p:nvPr/>
        </p:nvSpPr>
        <p:spPr>
          <a:xfrm>
            <a:off x="77724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Website 4 trang chạy thật trên GitHub Pages</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Báo giá theo MOQ ghi vào Google Sheet, có email và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Thuần HTML, CSS, JS, mở thẳng file là chạy</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nguồn công khai; có so sánh sản phẩm, xem ảnh lớn, chân trang pháp lý</a:t>
            </a:r>
            <a:endParaRPr lang="en-US" sz="1600" dirty="0"/>
          </a:p>
        </p:txBody>
      </p:sp>
      <p:sp>
        <p:nvSpPr>
          <p:cNvPr id="6" name="Thẻ Hạn chế"/>
          <p:cNvSpPr/>
          <p:nvPr/>
        </p:nvSpPr>
        <p:spPr>
          <a:xfrm>
            <a:off x="4297680" y="1371600"/>
            <a:ext cx="3566160" cy="3931920"/>
          </a:xfrm>
          <a:prstGeom prst="roundRect">
            <a:avLst>
              <a:gd name="adj" fmla="val 3077"/>
            </a:avLst>
          </a:prstGeom>
          <a:solidFill>
            <a:srgbClr val="2A2520"/>
          </a:solidFill>
          <a:ln w="12700">
            <a:solidFill>
              <a:srgbClr val="2A2520"/>
            </a:solidFill>
            <a:prstDash val="solid"/>
          </a:ln>
        </p:spPr>
      </p:sp>
      <p:sp>
        <p:nvSpPr>
          <p:cNvPr id="7" name="Text 5"/>
          <p:cNvSpPr txBox="1"/>
          <p:nvPr/>
        </p:nvSpPr>
        <p:spPr>
          <a:xfrm>
            <a:off x="452628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Hạn chế</a:t>
            </a:r>
            <a:endParaRPr lang="en-US" sz="2200" dirty="0"/>
          </a:p>
        </p:txBody>
      </p:sp>
      <p:sp>
        <p:nvSpPr>
          <p:cNvPr id="8" name="Text 6"/>
          <p:cNvSpPr txBox="1"/>
          <p:nvPr/>
        </p:nvSpPr>
        <p:spPr>
          <a:xfrm>
            <a:off x="452628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Link Apps Script công khai, chỉ chống spam ở mức cơ bản</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QR được vẽ nhờ dịch vụ quickchart.io (gửi họ tên và mã)</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Dữ liệu sản phẩm và ảnh là mẫu minh họa</a:t>
            </a:r>
            <a:endParaRPr lang="en-US" sz="1600" dirty="0"/>
          </a:p>
        </p:txBody>
      </p:sp>
      <p:sp>
        <p:nvSpPr>
          <p:cNvPr id="9" name="Thẻ Hướng phát triển"/>
          <p:cNvSpPr/>
          <p:nvPr/>
        </p:nvSpPr>
        <p:spPr>
          <a:xfrm>
            <a:off x="8046720" y="1371600"/>
            <a:ext cx="3566160" cy="3931920"/>
          </a:xfrm>
          <a:prstGeom prst="roundRect">
            <a:avLst>
              <a:gd name="adj" fmla="val 3077"/>
            </a:avLst>
          </a:prstGeom>
          <a:solidFill>
            <a:srgbClr val="2A2520"/>
          </a:solidFill>
          <a:ln w="12700">
            <a:solidFill>
              <a:srgbClr val="2A2520"/>
            </a:solidFill>
            <a:prstDash val="solid"/>
          </a:ln>
        </p:spPr>
      </p:sp>
      <p:sp>
        <p:nvSpPr>
          <p:cNvPr id="10" name="Text 8"/>
          <p:cNvSpPr txBox="1"/>
          <p:nvPr/>
        </p:nvSpPr>
        <p:spPr>
          <a:xfrm>
            <a:off x="827532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Hướng phát triển</a:t>
            </a:r>
            <a:endParaRPr lang="en-US" sz="2200" dirty="0"/>
          </a:p>
        </p:txBody>
      </p:sp>
      <p:sp>
        <p:nvSpPr>
          <p:cNvPr id="11" name="Text 9"/>
          <p:cNvSpPr txBox="1"/>
          <p:nvPr/>
        </p:nvSpPr>
        <p:spPr>
          <a:xfrm>
            <a:off x="827532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Nối với hệ thống ERP nội thất: báo giá thành lead, giá và tồn kho lấy từ ERP</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Xuất báo giá PDF, trang tra cứu yêu cầu bằng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PWA chạy khi mất mạng</a:t>
            </a:r>
            <a:endParaRPr lang="en-US" sz="1600" dirty="0"/>
          </a:p>
        </p:txBody>
      </p:sp>
      <p:sp>
        <p:nvSpPr>
          <p:cNvPr id="12" name="Text 10"/>
          <p:cNvSpPr txBox="1"/>
          <p:nvPr/>
        </p:nvSpPr>
        <p:spPr>
          <a:xfrm>
            <a:off x="548640" y="5623560"/>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Xin cảm ơn thầy và các bạn đã lắng nghe</a:t>
            </a:r>
            <a:endParaRPr lang="en-US" sz="1800" dirty="0"/>
          </a:p>
        </p:txBody>
      </p:sp>
      <p:sp>
        <p:nvSpPr>
          <p:cNvPr id="13" name="Text 11">
            <a:hlinkClick r:id="rId1" tooltip=""/>
          </p:cNvPr>
          <p:cNvSpPr txBox="1"/>
          <p:nvPr/>
        </p:nvSpPr>
        <p:spPr>
          <a:xfrm>
            <a:off x="6583680" y="5623560"/>
            <a:ext cx="5029200" cy="457200"/>
          </a:xfrm>
          <a:prstGeom prst="rect">
            <a:avLst/>
          </a:prstGeom>
          <a:noFill/>
          <a:ln/>
        </p:spPr>
        <p:txBody>
          <a:bodyPr wrap="square" lIns="0" tIns="0" rIns="0" bIns="0" rtlCol="0" anchor="ctr"/>
          <a:lstStyle/>
          <a:p>
            <a:pPr algn="r" indent="0" marL="0">
              <a:buNone/>
            </a:pPr>
            <a:r>
              <a:rPr lang="en-US" sz="1400" u="sng" dirty="0">
                <a:solidFill>
                  <a:srgbClr val="D9C7A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github.com/nguyenphat006/Phat_NguyenDang_526000162</a:t>
            </a:r>
            <a:endParaRPr lang="en-US" sz="1400" dirty="0"/>
          </a:p>
        </p:txBody>
      </p:sp>
    </p:spTree>
  </p:cSld>
  <p:clrMapOvr>
    <a:masterClrMapping/>
  </p:clrMapOvr>
</p:sld>
</file>

<file path=ppt/theme/theme1.xml><?xml version="1.0" encoding="utf-8"?>
<a:theme xmlns:a="http://schemas.openxmlformats.org/drawingml/2006/main" name="Ericss Furniture">
  <a:themeElements>
    <a:clrScheme name="Ericss Furniture">
      <a:dk1>
        <a:srgbClr val="1A1714"/>
      </a:dk1>
      <a:lt1>
        <a:srgbClr val="FFFFFF"/>
      </a:lt1>
      <a:dk2>
        <a:srgbClr val="5B3A1B"/>
      </a:dk2>
      <a:lt2>
        <a:srgbClr val="F1EEE8"/>
      </a:lt2>
      <a:accent1>
        <a:srgbClr val="8B5A2B"/>
      </a:accent1>
      <a:accent2>
        <a:srgbClr val="2F6B3A"/>
      </a:accent2>
      <a:accent3>
        <a:srgbClr val="B3402F"/>
      </a:accent3>
      <a:accent4>
        <a:srgbClr val="6B6258"/>
      </a:accent4>
      <a:accent5>
        <a:srgbClr val="D9C7AE"/>
      </a:accent5>
      <a:accent6>
        <a:srgbClr val="2A4A8A"/>
      </a:accent6>
      <a:hlink>
        <a:srgbClr val="8B5A2B"/>
      </a:hlink>
      <a:folHlink>
        <a:srgbClr val="6B6258"/>
      </a:folHlink>
    </a:clrScheme>
    <a:fontScheme name="Ericss Furni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Ericss Furniture - Báo cáo bài thi Thiết kế Web</dc:title>
  <dc:subject>PptxGenJS Presentation</dc:subject>
  <dc:creator>Nguyễn Đăng Phát</dc:creator>
  <cp:lastModifiedBy>Nguyễn Đăng Phát</cp:lastModifiedBy>
  <cp:revision>1</cp:revision>
  <dcterms:created xsi:type="dcterms:W3CDTF">2026-10-22T15:47:10Z</dcterms:created>
  <dcterms:modified xsi:type="dcterms:W3CDTF">2026-10-22T15:47:10Z</dcterms:modified>
</cp:coreProperties>
</file>